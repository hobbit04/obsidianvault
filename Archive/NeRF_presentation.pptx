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88" r:id="rId2"/>
    <p:sldId id="256" r:id="rId3"/>
    <p:sldId id="289" r:id="rId4"/>
    <p:sldId id="296" r:id="rId5"/>
    <p:sldId id="297" r:id="rId6"/>
    <p:sldId id="290" r:id="rId7"/>
    <p:sldId id="298" r:id="rId8"/>
    <p:sldId id="291" r:id="rId9"/>
    <p:sldId id="299" r:id="rId10"/>
    <p:sldId id="300" r:id="rId11"/>
    <p:sldId id="301" r:id="rId12"/>
    <p:sldId id="302" r:id="rId13"/>
    <p:sldId id="303" r:id="rId14"/>
    <p:sldId id="292" r:id="rId15"/>
    <p:sldId id="304" r:id="rId16"/>
    <p:sldId id="305" r:id="rId17"/>
    <p:sldId id="306" r:id="rId18"/>
    <p:sldId id="293" r:id="rId19"/>
    <p:sldId id="307" r:id="rId20"/>
    <p:sldId id="308" r:id="rId21"/>
    <p:sldId id="318" r:id="rId22"/>
    <p:sldId id="309" r:id="rId23"/>
    <p:sldId id="310" r:id="rId24"/>
    <p:sldId id="294" r:id="rId25"/>
    <p:sldId id="311" r:id="rId26"/>
    <p:sldId id="312" r:id="rId27"/>
    <p:sldId id="313" r:id="rId28"/>
    <p:sldId id="314" r:id="rId29"/>
    <p:sldId id="315" r:id="rId30"/>
    <p:sldId id="316" r:id="rId31"/>
    <p:sldId id="317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4"/>
    <p:restoredTop sz="94658"/>
  </p:normalViewPr>
  <p:slideViewPr>
    <p:cSldViewPr snapToGrid="0">
      <p:cViewPr varScale="1">
        <p:scale>
          <a:sx n="120" d="100"/>
          <a:sy n="120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4C54F-B193-E84F-8F8C-301414ECC248}" type="datetimeFigureOut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06747-CBC9-9340-A562-9923B23851A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966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델타</a:t>
            </a:r>
            <a:r>
              <a:rPr kumimoji="1" lang="en-US" altLang="ko-KR" dirty="0" err="1"/>
              <a:t>i</a:t>
            </a:r>
            <a:r>
              <a:rPr kumimoji="1" lang="ko-KR" altLang="en-US" dirty="0"/>
              <a:t> 가 </a:t>
            </a:r>
            <a:r>
              <a:rPr kumimoji="1" lang="en-US" altLang="ko-KR" dirty="0"/>
              <a:t>0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가까워지면 빨간 줄로 표시한 부분이 거의 같아지게 됨</a:t>
            </a:r>
            <a:r>
              <a:rPr kumimoji="1" lang="en-US" altLang="ko-KR" dirty="0"/>
              <a:t>(</a:t>
            </a:r>
            <a:r>
              <a:rPr kumimoji="1" lang="ko-KR" altLang="en-US" dirty="0"/>
              <a:t>근사</a:t>
            </a:r>
            <a:r>
              <a:rPr kumimoji="1" lang="en-US" altLang="ko-KR" dirty="0"/>
              <a:t>).</a:t>
            </a:r>
            <a:r>
              <a:rPr kumimoji="1" lang="ko-KR" altLang="en-US" dirty="0"/>
              <a:t> 밑줄 친 부분은 둘 다 빛이 어떤 구간을 통과할 확률</a:t>
            </a:r>
            <a:r>
              <a:rPr kumimoji="1" lang="en-US" altLang="ko-KR" dirty="0"/>
              <a:t>(</a:t>
            </a:r>
            <a:r>
              <a:rPr kumimoji="1" lang="ko-KR" altLang="en-US" dirty="0"/>
              <a:t>투과도 개념</a:t>
            </a:r>
            <a:r>
              <a:rPr kumimoji="1" lang="en-US" altLang="ko-KR" dirty="0"/>
              <a:t>).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06747-CBC9-9340-A562-9923B23851A3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2090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2DE54-A3AF-941A-7324-ECADD5DA7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E69900-9735-4F64-6092-AD1F5F2D6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7E9F5F-369E-1967-12BD-BB8BDB05D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AA48E-4997-F447-86AC-3E1F28F1B57E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FAEBA7-CC66-559D-8DD5-0805320F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9A741D-EEB4-72CF-6C90-B5871072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277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82767-1413-D7EE-0749-22F88BFF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C2176-2496-499C-97EA-77C1BE9D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851E22-3284-B754-175F-59CEA650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EAD9-E4C1-494E-B891-7463AB2105CE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203C43-E806-9215-B864-20782A97F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4D34F6-8418-B199-F11B-DF83007FA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917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45EA6-74E7-6912-0E00-3C71500AE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A78830-9EF9-9CDC-2DEF-B98B06C24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3533F-F21A-7C2B-A06C-13F101E27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B05AD-E231-D744-8F9A-C09211079FA4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836F51-B984-A484-06CE-4907BA25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CB0CE-5F1E-9336-791D-9F5C51496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404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F73CB-64A4-43C9-96B9-10DC919E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531D8-CF64-E0AA-38DF-F3CEC230F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91B85C-190C-9B90-F199-16E93AD81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9A2082-440A-52F2-D2EC-0E5B9BE47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C946-C042-1649-ACAF-A9826165BC17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CF6DC8-7BBB-E07F-64AC-E85BF230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230BDC-882C-B6DF-A52D-B23F1F5B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0033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32FA-A088-36A7-E02F-8C7A4C0C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EE4496-B432-1CB6-BF72-C22A89482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7E8351-3BF3-E276-2498-95D8C5DD8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44B76B-30DD-C067-2C16-330A4EB5D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9568CB-33F0-CA0C-B57F-A6B3A6E8F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56DC1E-932E-DF7E-DE4F-72C95EF6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3415F-7C83-5B47-9C37-6691C044DA07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DA3AE6-8D41-D7DF-18EC-00D4DA6F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7A40B0-69FC-1B87-2A17-607DA58A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46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9E1D1-B46B-E3EA-272B-31373BC7C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20799C-56E1-5276-F917-9AF9E756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63EC-28D6-954E-ACE7-6C32836F6222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21D251-C983-AF27-E411-84A17693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69CFF8-C035-A3B5-96BB-BC7F6F4A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6681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5E9D90-CD9A-EDFB-1F3C-AE3A6F329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C9720-F93C-C249-A4AF-ECA71BD87D36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D5F019-07C0-E2F0-912D-22A844EB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35D129-03D5-310C-266D-5177F1F4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3158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6F924-071A-12F4-0CC0-F7A5605C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BAE5B7-76CD-70AB-D687-1A79EE02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3BC56E-435E-40AF-5521-F2B1C5BB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AF46B8-551F-B260-5D6B-E79F5C83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C4DF6-A44D-B949-BC19-0E6411457A49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518142-6973-4C8C-8052-341F5777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4F234E-60E0-09D5-B5B7-E27CBA08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473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B6E6F-2A5F-A74A-9C5F-E26287EA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2387A7-6526-CB76-138E-50B21DB4B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CB9F10-B417-AFFF-E041-3FF7E08C9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7989C7-7249-E5CF-AE2A-184C500A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4D090-58EF-384B-911D-04F8BEDA075A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5C1661-3806-B082-9001-D17B94915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319A6B-98BE-51AB-6BDF-85555D46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287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5B39D-76D5-08B4-3FD5-F1D6F1A81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A48C91-070D-9667-A49E-6BCCDC24E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323D1-BBDA-0364-54D2-7BB9259F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E018-B24C-514D-A055-218E76E2E57E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A2262C-B1AC-A36D-6E18-C1474BC7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67538-D8C6-DDDF-B2C6-2C3B66F1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76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8DB4FE-ADBF-4711-6C6E-2241E58D3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E79690-BADA-5A5C-B5A7-30146AAE3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BD3883-6940-68EA-45B3-8C6D95FA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DF15E-A821-2145-9B4A-2CB5EE4A776A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325932-9515-2121-9F65-9B95E3CB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269B0-ADE6-F8C5-A462-C85FB573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579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C07DA6-926D-19CA-9BD6-D7F74362B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5E4A0C-2BE2-42AD-78A2-DE4F140F6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64B32-7D09-5054-76B8-99AFA42F7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8E63C-161E-C444-9334-96FF466DCE7D}" type="datetime1">
              <a:rPr kumimoji="1" lang="ko-KR" altLang="en-US" smtClean="0"/>
              <a:t>2026. 8. 21.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335E40-2D8A-5E40-6279-452D7A53C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F8B81D-98F3-9940-47B3-4C212DB1E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046F0-557D-4D40-AEE7-109BA6B299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5821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2945FB-F579-D023-C9A9-8C31688B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</a:t>
            </a:fld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BAD49F-4B3E-6200-EFF8-847F31E8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310" y="1266092"/>
            <a:ext cx="9399378" cy="32877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AC6C8C-A70B-6C51-CE24-677CAD269881}"/>
              </a:ext>
            </a:extLst>
          </p:cNvPr>
          <p:cNvSpPr txBox="1"/>
          <p:nvPr/>
        </p:nvSpPr>
        <p:spPr>
          <a:xfrm>
            <a:off x="4935874" y="4900246"/>
            <a:ext cx="232025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ECCV 2020</a:t>
            </a:r>
          </a:p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Presenter: LEE </a:t>
            </a:r>
            <a:r>
              <a:rPr kumimoji="1"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Sungjae</a:t>
            </a:r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2025. 8. 5.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61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2561E6-9EDA-1389-5801-E6BA43D3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EBB7D34C-535A-02BD-43B7-CFCE111BCB04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3E7B77E4-CA3A-6CFE-8739-46B7E09EF7A5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One-Slide Summary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8FC46FCF-81FB-0725-85A5-9E846964E15E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70DED-0D25-4B16-9939-9D64DF4175E2}"/>
              </a:ext>
            </a:extLst>
          </p:cNvPr>
          <p:cNvSpPr txBox="1"/>
          <p:nvPr/>
        </p:nvSpPr>
        <p:spPr>
          <a:xfrm>
            <a:off x="1669668" y="1578584"/>
            <a:ext cx="3098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MLP: Represents the 3d object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6B893E-17B8-40F8-39CE-1DDEAB7E8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096" y="4346187"/>
            <a:ext cx="2949854" cy="201016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732C6E-8649-487F-825D-9510B35602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464"/>
          <a:stretch/>
        </p:blipFill>
        <p:spPr>
          <a:xfrm>
            <a:off x="6895865" y="3083320"/>
            <a:ext cx="3887527" cy="22389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133D61-ED7A-95CD-43A5-AEEA04EEB42C}"/>
              </a:ext>
            </a:extLst>
          </p:cNvPr>
          <p:cNvSpPr txBox="1"/>
          <p:nvPr/>
        </p:nvSpPr>
        <p:spPr>
          <a:xfrm>
            <a:off x="6895865" y="1504112"/>
            <a:ext cx="4512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Volume rendering: Decide the color of a pixel and form image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4B79D88-654B-7EBC-EDC5-B0939CEB6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023" y="2200670"/>
            <a:ext cx="25400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19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82BA-5C4F-B164-B773-13ED67262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56CAC-CAB6-A229-56D8-8EC8C055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3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986A7214-4094-7201-7CA4-22DBAB5705B7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8387DF33-9D02-F737-7012-0801B5463C6B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Motive and approach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7B8B52BB-CE6C-ABA2-BE49-9BDC75C002FA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BB2DA3-64E0-B423-1470-C8B34DEEC8C2}"/>
              </a:ext>
            </a:extLst>
          </p:cNvPr>
          <p:cNvSpPr txBox="1"/>
          <p:nvPr/>
        </p:nvSpPr>
        <p:spPr>
          <a:xfrm>
            <a:off x="921097" y="1637414"/>
            <a:ext cx="5637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Goal: Using images of a 3d object, form novel view images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EFA5AF-5679-2E37-5B1A-C18718CA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74" y="2290873"/>
            <a:ext cx="3162300" cy="34671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08BF6C-A71F-4711-6335-092056B4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476" y="2462315"/>
            <a:ext cx="6182166" cy="295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4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397DE-DC61-4B22-A61F-ED3D1A209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79AD32-B98E-243A-E151-B37DED1E3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4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B7A0198C-7B72-182E-6F98-C49863D17BEB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BE297DD2-FA7F-A610-527E-575470FE6FF1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Motive and approach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7021F4D3-9F6B-BC24-136A-75376DB37392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FFCC14-54B1-6E8B-6F5E-1ADBFCA6ECBA}"/>
              </a:ext>
            </a:extLst>
          </p:cNvPr>
          <p:cNvSpPr txBox="1"/>
          <p:nvPr/>
        </p:nvSpPr>
        <p:spPr>
          <a:xfrm>
            <a:off x="921097" y="1637414"/>
            <a:ext cx="6083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Previous approach: Use Voxel grids (3D version of image pixels)</a:t>
            </a: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..such as Neural Volume or Scene Representation Networks.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EE76DF-2071-B3BD-950E-CF7890590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991" y="1637414"/>
            <a:ext cx="2495609" cy="28549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2753B3-7A63-AD34-46BD-836E99747B75}"/>
              </a:ext>
            </a:extLst>
          </p:cNvPr>
          <p:cNvSpPr txBox="1"/>
          <p:nvPr/>
        </p:nvSpPr>
        <p:spPr>
          <a:xfrm>
            <a:off x="921097" y="3615070"/>
            <a:ext cx="4653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This is too heavy(e.g., 15GB per scene for LLFF)!</a:t>
            </a:r>
          </a:p>
          <a:p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NeRF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only requires 5MB per scene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2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4D04-CBAB-6D41-54CB-F1CB7F32A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F97D1-E5F3-9034-A471-9DD273C6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5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AD0CE93A-E8D7-D0D1-466F-74EB146CF62F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165123BA-5438-0F4D-2CB0-1094F39A3604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computer graphics - Ray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5F82CBAF-3495-9E36-AEF8-2777178CF569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Prerequisites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85EA1-F6B2-363A-B5D0-6A6D4FEE2EA3}"/>
              </a:ext>
            </a:extLst>
          </p:cNvPr>
          <p:cNvSpPr txBox="1"/>
          <p:nvPr/>
        </p:nvSpPr>
        <p:spPr>
          <a:xfrm>
            <a:off x="991842" y="1679945"/>
            <a:ext cx="322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How can human </a:t>
            </a:r>
            <a:r>
              <a:rPr kumimoji="1" lang="en-US" altLang="ko-KR" i="1" dirty="0">
                <a:latin typeface="Calibri" panose="020F0502020204030204" pitchFamily="34" charset="0"/>
                <a:cs typeface="Calibri" panose="020F0502020204030204" pitchFamily="34" charset="0"/>
              </a:rPr>
              <a:t>see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something?</a:t>
            </a:r>
            <a:endParaRPr kumimoji="1" lang="ko-KR" alt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A11AB3-676E-E9E8-D3A2-C26E04C41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42" y="2341084"/>
            <a:ext cx="3796369" cy="24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8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4BF0-627C-923E-83C9-E37EA094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52B470-8674-17C7-E9CD-5FA0E489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6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D207CBA5-DD4D-F684-A5C8-C8C0F0047D8C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40A041BC-ABCE-5A7C-078A-0802ADCF1BA4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computer graphics - Ray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7BC197B0-B494-0379-9E85-635E4300E129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Prerequisites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ED7FCE-C219-6E26-2C83-E252586577B2}"/>
              </a:ext>
            </a:extLst>
          </p:cNvPr>
          <p:cNvSpPr txBox="1"/>
          <p:nvPr/>
        </p:nvSpPr>
        <p:spPr>
          <a:xfrm>
            <a:off x="991842" y="1679945"/>
            <a:ext cx="322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How can human </a:t>
            </a:r>
            <a:r>
              <a:rPr kumimoji="1" lang="en-US" altLang="ko-KR" i="1" dirty="0">
                <a:latin typeface="Calibri" panose="020F0502020204030204" pitchFamily="34" charset="0"/>
                <a:cs typeface="Calibri" panose="020F0502020204030204" pitchFamily="34" charset="0"/>
              </a:rPr>
              <a:t>see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something?</a:t>
            </a:r>
            <a:endParaRPr kumimoji="1" lang="ko-KR" alt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F6FFE1-AEE5-B2E9-2D0D-030224786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42" y="2341084"/>
            <a:ext cx="3796369" cy="24676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05A7CF-DCB2-8E56-79AB-FA20129AC0BC}"/>
              </a:ext>
            </a:extLst>
          </p:cNvPr>
          <p:cNvSpPr txBox="1"/>
          <p:nvPr/>
        </p:nvSpPr>
        <p:spPr>
          <a:xfrm>
            <a:off x="6519540" y="1679945"/>
            <a:ext cx="3475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Computer Graphic uses Ray-tracing</a:t>
            </a:r>
            <a:endParaRPr kumimoji="1" lang="ko-KR" alt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8829FD-9ACF-2AF1-F17A-4447FB8E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540" y="2338749"/>
            <a:ext cx="3740879" cy="261861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A26A5FD-3041-654A-124B-38298BA4C4FD}"/>
              </a:ext>
            </a:extLst>
          </p:cNvPr>
          <p:cNvSpPr/>
          <p:nvPr/>
        </p:nvSpPr>
        <p:spPr>
          <a:xfrm>
            <a:off x="808074" y="1520456"/>
            <a:ext cx="4061638" cy="3817088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550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7E58-0257-B10D-F362-AE8EE0B8A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0AE3B-4765-69F8-F3BB-565F0822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7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311FA93A-5AD5-71C4-0A97-DD3A78DC8B34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4FAA58CF-98CA-4F39-7991-D558C566C65C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 computer graphics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9EB575D-ECCB-C63C-2637-068448C6FF37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Prerequisites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3042D-0F9B-EDA2-7915-5C6944050D79}"/>
              </a:ext>
            </a:extLst>
          </p:cNvPr>
          <p:cNvSpPr txBox="1"/>
          <p:nvPr/>
        </p:nvSpPr>
        <p:spPr>
          <a:xfrm>
            <a:off x="991842" y="1679945"/>
            <a:ext cx="95062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3D object should give </a:t>
            </a:r>
            <a:r>
              <a:rPr kumimoji="1" lang="en-US" altLang="ko-KR" i="1" dirty="0">
                <a:latin typeface="Calibri" panose="020F0502020204030204" pitchFamily="34" charset="0"/>
                <a:cs typeface="Calibri" panose="020F0502020204030204" pitchFamily="34" charset="0"/>
              </a:rPr>
              <a:t>color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kumimoji="1" lang="en-US" altLang="ko-KR" i="1" dirty="0">
                <a:latin typeface="Calibri" panose="020F0502020204030204" pitchFamily="34" charset="0"/>
                <a:cs typeface="Calibri" panose="020F0502020204030204" pitchFamily="34" charset="0"/>
              </a:rPr>
              <a:t>opacity</a:t>
            </a:r>
            <a:r>
              <a:rPr kumimoji="1" lang="ko-KR" alt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so that ray can decide the value of a pixel.</a:t>
            </a:r>
          </a:p>
          <a:p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Each point(x, y, z) can have different values depending on the direction.</a:t>
            </a:r>
          </a:p>
          <a:p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Goal: We want to represent a 3d object that gives color and opacity for every position and direction</a:t>
            </a:r>
          </a:p>
          <a:p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077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11E6E-18EB-D550-F397-362895D5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744978-D47C-6038-E434-2DF245B5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8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AF7A18DA-C188-3E75-E24C-C1C2F5A852E2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F329E138-0339-0C2D-4FD7-42FE2CEB2A3E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Radiance Field Scene Representation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C06137B0-2CD6-6074-761C-8E4B2AEDE7D2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1E3CC1-BA5E-0CA6-D677-204103603293}"/>
                  </a:ext>
                </a:extLst>
              </p:cNvPr>
              <p:cNvSpPr txBox="1"/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NeRF: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ural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adiance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ield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achieve this goal by optimizing MLP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11E3CC1-BA5E-0CA6-D677-204103603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blipFill>
                <a:blip r:embed="rId2"/>
                <a:stretch>
                  <a:fillRect l="-1173" t="-2740" b="-95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41FAE84-2467-E0F4-9549-88A7F79C3785}"/>
              </a:ext>
            </a:extLst>
          </p:cNvPr>
          <p:cNvSpPr/>
          <p:nvPr/>
        </p:nvSpPr>
        <p:spPr>
          <a:xfrm>
            <a:off x="3303188" y="3092080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D558E99-157F-8DAE-D4FE-641BCC3A3ADB}"/>
              </a:ext>
            </a:extLst>
          </p:cNvPr>
          <p:cNvSpPr/>
          <p:nvPr/>
        </p:nvSpPr>
        <p:spPr>
          <a:xfrm>
            <a:off x="2170146" y="3489757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21F06CC-E8A2-B3BF-1BCF-62C0942C99BF}"/>
              </a:ext>
            </a:extLst>
          </p:cNvPr>
          <p:cNvSpPr/>
          <p:nvPr/>
        </p:nvSpPr>
        <p:spPr>
          <a:xfrm>
            <a:off x="2170146" y="4552451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80AA3DD-FF1C-A9F2-1937-4BAFF6000D1A}"/>
              </a:ext>
            </a:extLst>
          </p:cNvPr>
          <p:cNvSpPr/>
          <p:nvPr/>
        </p:nvSpPr>
        <p:spPr>
          <a:xfrm>
            <a:off x="8673287" y="3605274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MLP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5499709E-21FD-47C5-61FD-50B675AA7FD1}"/>
                  </a:ext>
                </a:extLst>
              </p:cNvPr>
              <p:cNvSpPr/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5499709E-21FD-47C5-61FD-50B675AA7F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대각선 방향의 모서리가 잘린 사각형 13">
            <a:extLst>
              <a:ext uri="{FF2B5EF4-FFF2-40B4-BE49-F238E27FC236}">
                <a16:creationId xmlns:a16="http://schemas.microsoft.com/office/drawing/2014/main" id="{CA23F8A7-CA2B-8BF7-C2B5-839A9C6399DB}"/>
              </a:ext>
            </a:extLst>
          </p:cNvPr>
          <p:cNvSpPr/>
          <p:nvPr/>
        </p:nvSpPr>
        <p:spPr>
          <a:xfrm>
            <a:off x="5860217" y="3618408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846E5E7-B467-B1F3-7226-9A53D21E026E}"/>
              </a:ext>
            </a:extLst>
          </p:cNvPr>
          <p:cNvSpPr/>
          <p:nvPr/>
        </p:nvSpPr>
        <p:spPr>
          <a:xfrm>
            <a:off x="9903609" y="4741098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F159B21-AC13-03F5-14BA-07C12F78E000}"/>
              </a:ext>
            </a:extLst>
          </p:cNvPr>
          <p:cNvCxnSpPr/>
          <p:nvPr/>
        </p:nvCxnSpPr>
        <p:spPr>
          <a:xfrm>
            <a:off x="2590800" y="366603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EE425F-8A38-C0DA-EB69-4FF38634F4A9}"/>
              </a:ext>
            </a:extLst>
          </p:cNvPr>
          <p:cNvCxnSpPr>
            <a:cxnSpLocks/>
          </p:cNvCxnSpPr>
          <p:nvPr/>
        </p:nvCxnSpPr>
        <p:spPr>
          <a:xfrm flipV="1">
            <a:off x="4992487" y="3304565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C553F8E-DE9C-15B9-4F57-7D58816692AA}"/>
              </a:ext>
            </a:extLst>
          </p:cNvPr>
          <p:cNvCxnSpPr>
            <a:cxnSpLocks/>
          </p:cNvCxnSpPr>
          <p:nvPr/>
        </p:nvCxnSpPr>
        <p:spPr>
          <a:xfrm>
            <a:off x="4992487" y="4088801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6889FF75-32F2-6CBF-EA66-7EEA8ABC03CA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4210729" y="3040506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43D1F97-009C-359C-9646-F94DE04684FC}"/>
              </a:ext>
            </a:extLst>
          </p:cNvPr>
          <p:cNvCxnSpPr>
            <a:cxnSpLocks/>
          </p:cNvCxnSpPr>
          <p:nvPr/>
        </p:nvCxnSpPr>
        <p:spPr>
          <a:xfrm>
            <a:off x="6410326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대각선 방향의 모서리가 잘린 사각형 29">
            <a:extLst>
              <a:ext uri="{FF2B5EF4-FFF2-40B4-BE49-F238E27FC236}">
                <a16:creationId xmlns:a16="http://schemas.microsoft.com/office/drawing/2014/main" id="{25ABDD1C-5BCD-D3F3-E9C4-59C725E109EF}"/>
              </a:ext>
            </a:extLst>
          </p:cNvPr>
          <p:cNvSpPr/>
          <p:nvPr/>
        </p:nvSpPr>
        <p:spPr>
          <a:xfrm>
            <a:off x="7266752" y="3618408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9ADB506-DC99-0729-07FA-DD343D9517AE}"/>
              </a:ext>
            </a:extLst>
          </p:cNvPr>
          <p:cNvCxnSpPr>
            <a:cxnSpLocks/>
          </p:cNvCxnSpPr>
          <p:nvPr/>
        </p:nvCxnSpPr>
        <p:spPr>
          <a:xfrm>
            <a:off x="7824788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3895ABB-103D-DF95-7017-E5A681788BF8}"/>
              </a:ext>
            </a:extLst>
          </p:cNvPr>
          <p:cNvCxnSpPr/>
          <p:nvPr/>
        </p:nvCxnSpPr>
        <p:spPr>
          <a:xfrm>
            <a:off x="9191625" y="4917311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BA84C2-9C31-8DE7-1DD8-00CAE320C920}"/>
                  </a:ext>
                </a:extLst>
              </p:cNvPr>
              <p:cNvSpPr txBox="1"/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x: 3d position(x, y, z)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d: direction(3D Cartesian unit vector)</a:t>
                </a:r>
              </a:p>
              <a:p>
                <a14:m>
                  <m:oMath xmlns:m="http://schemas.openxmlformats.org/officeDocument/2006/math">
                    <m:r>
                      <a:rPr kumimoji="1" lang="ko-KR" altLang="en-US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c: color</a:t>
                </a:r>
                <a:endParaRPr kumimoji="1"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3BA84C2-9C31-8DE7-1DD8-00CAE320C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blipFill>
                <a:blip r:embed="rId4"/>
                <a:stretch>
                  <a:fillRect l="-1356" t="-2083" r="-339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27E3D954-A4B9-F820-FB13-085A382E1462}"/>
              </a:ext>
            </a:extLst>
          </p:cNvPr>
          <p:cNvSpPr txBox="1"/>
          <p:nvPr/>
        </p:nvSpPr>
        <p:spPr>
          <a:xfrm rot="5400000">
            <a:off x="5173601" y="4587210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43C83E-D190-9A93-678C-588920298E0A}"/>
              </a:ext>
            </a:extLst>
          </p:cNvPr>
          <p:cNvSpPr txBox="1"/>
          <p:nvPr/>
        </p:nvSpPr>
        <p:spPr>
          <a:xfrm rot="5400000">
            <a:off x="6386279" y="4731888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77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9E57-4960-1433-A415-29E329D85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05648-3A21-3012-9B7E-BA7C6106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9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492B735E-BC5B-A9C4-C8B3-0DD5695B8893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D014E0BC-903E-16F5-174A-31D4D83268F1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Radiance Field Scene Representation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063A4472-7D26-9DDE-FDCE-A8A2EDC9014C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3DC99C-7261-99C5-677E-94A7963930EB}"/>
                  </a:ext>
                </a:extLst>
              </p:cNvPr>
              <p:cNvSpPr txBox="1"/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NeRF: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ural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adiance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ield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achieve this goal by optimizing MLP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3DC99C-7261-99C5-677E-94A796393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blipFill>
                <a:blip r:embed="rId2"/>
                <a:stretch>
                  <a:fillRect l="-1173" t="-2740" b="-95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B89A35C-D09F-1BA8-4DC7-14ED9EB02B41}"/>
              </a:ext>
            </a:extLst>
          </p:cNvPr>
          <p:cNvSpPr/>
          <p:nvPr/>
        </p:nvSpPr>
        <p:spPr>
          <a:xfrm>
            <a:off x="3303188" y="3092080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B569015-71EA-B6B2-FA6F-C8305632ADFD}"/>
              </a:ext>
            </a:extLst>
          </p:cNvPr>
          <p:cNvSpPr/>
          <p:nvPr/>
        </p:nvSpPr>
        <p:spPr>
          <a:xfrm>
            <a:off x="2170146" y="3489757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03952A3-0AE4-53C6-3E5F-90E35838B639}"/>
              </a:ext>
            </a:extLst>
          </p:cNvPr>
          <p:cNvSpPr/>
          <p:nvPr/>
        </p:nvSpPr>
        <p:spPr>
          <a:xfrm>
            <a:off x="2170146" y="4552451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0A3330F-E648-28C8-9169-1E2CB9D57272}"/>
              </a:ext>
            </a:extLst>
          </p:cNvPr>
          <p:cNvSpPr/>
          <p:nvPr/>
        </p:nvSpPr>
        <p:spPr>
          <a:xfrm>
            <a:off x="8673287" y="3605274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F1B083F5-A851-FCD4-A272-2D680E1603C2}"/>
                  </a:ext>
                </a:extLst>
              </p:cNvPr>
              <p:cNvSpPr/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F1B083F5-A851-FCD4-A272-2D680E1603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대각선 방향의 모서리가 잘린 사각형 13">
            <a:extLst>
              <a:ext uri="{FF2B5EF4-FFF2-40B4-BE49-F238E27FC236}">
                <a16:creationId xmlns:a16="http://schemas.microsoft.com/office/drawing/2014/main" id="{EDE0162E-5D24-4E0E-8DAA-639D3A19A266}"/>
              </a:ext>
            </a:extLst>
          </p:cNvPr>
          <p:cNvSpPr/>
          <p:nvPr/>
        </p:nvSpPr>
        <p:spPr>
          <a:xfrm>
            <a:off x="5860217" y="3618408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BC98F01-BD40-5E38-739B-BCB4A728FFF9}"/>
              </a:ext>
            </a:extLst>
          </p:cNvPr>
          <p:cNvSpPr/>
          <p:nvPr/>
        </p:nvSpPr>
        <p:spPr>
          <a:xfrm>
            <a:off x="9903609" y="4741098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50E8B5C-7423-A775-BBBF-DD19B9923478}"/>
              </a:ext>
            </a:extLst>
          </p:cNvPr>
          <p:cNvCxnSpPr/>
          <p:nvPr/>
        </p:nvCxnSpPr>
        <p:spPr>
          <a:xfrm>
            <a:off x="2590800" y="366603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C4F5942-5DF7-BF51-2FFB-353731961E04}"/>
              </a:ext>
            </a:extLst>
          </p:cNvPr>
          <p:cNvCxnSpPr>
            <a:cxnSpLocks/>
          </p:cNvCxnSpPr>
          <p:nvPr/>
        </p:nvCxnSpPr>
        <p:spPr>
          <a:xfrm flipV="1">
            <a:off x="4992487" y="3304565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2FC4EF5-98BC-1F98-2F88-556EF8A16A67}"/>
              </a:ext>
            </a:extLst>
          </p:cNvPr>
          <p:cNvCxnSpPr>
            <a:cxnSpLocks/>
          </p:cNvCxnSpPr>
          <p:nvPr/>
        </p:nvCxnSpPr>
        <p:spPr>
          <a:xfrm>
            <a:off x="4992487" y="4088801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FABBFD9B-F841-23D1-D3D2-25B8D7039D5F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4210729" y="3040506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5F9DBCF-78E7-812C-B163-F4BC2D8E60A6}"/>
              </a:ext>
            </a:extLst>
          </p:cNvPr>
          <p:cNvCxnSpPr>
            <a:cxnSpLocks/>
          </p:cNvCxnSpPr>
          <p:nvPr/>
        </p:nvCxnSpPr>
        <p:spPr>
          <a:xfrm>
            <a:off x="6410326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대각선 방향의 모서리가 잘린 사각형 29">
            <a:extLst>
              <a:ext uri="{FF2B5EF4-FFF2-40B4-BE49-F238E27FC236}">
                <a16:creationId xmlns:a16="http://schemas.microsoft.com/office/drawing/2014/main" id="{515BCCBE-550C-3CF7-5325-223A0B594541}"/>
              </a:ext>
            </a:extLst>
          </p:cNvPr>
          <p:cNvSpPr/>
          <p:nvPr/>
        </p:nvSpPr>
        <p:spPr>
          <a:xfrm>
            <a:off x="7266752" y="3618408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B57B163-73C4-5233-EEFC-3D27B6DBCDFC}"/>
              </a:ext>
            </a:extLst>
          </p:cNvPr>
          <p:cNvCxnSpPr>
            <a:cxnSpLocks/>
          </p:cNvCxnSpPr>
          <p:nvPr/>
        </p:nvCxnSpPr>
        <p:spPr>
          <a:xfrm>
            <a:off x="7824788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9B0ADB5-5673-A0BA-5F0F-96C478127DDE}"/>
              </a:ext>
            </a:extLst>
          </p:cNvPr>
          <p:cNvCxnSpPr/>
          <p:nvPr/>
        </p:nvCxnSpPr>
        <p:spPr>
          <a:xfrm>
            <a:off x="9191625" y="4917311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811FAA-31A8-9433-814D-7D7E66207F3E}"/>
                  </a:ext>
                </a:extLst>
              </p:cNvPr>
              <p:cNvSpPr txBox="1"/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x: 3d position(x, y, z)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d: direction(3D Cartesian unit vector)</a:t>
                </a:r>
              </a:p>
              <a:p>
                <a14:m>
                  <m:oMath xmlns:m="http://schemas.openxmlformats.org/officeDocument/2006/math">
                    <m:r>
                      <a:rPr kumimoji="1" lang="ko-KR" altLang="en-US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c: color</a:t>
                </a:r>
                <a:endParaRPr kumimoji="1"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811FAA-31A8-9433-814D-7D7E66207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blipFill>
                <a:blip r:embed="rId4"/>
                <a:stretch>
                  <a:fillRect l="-1356" t="-2083" r="-339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1B22E86-A05E-9453-44BD-851BA6A92E11}"/>
              </a:ext>
            </a:extLst>
          </p:cNvPr>
          <p:cNvSpPr txBox="1"/>
          <p:nvPr/>
        </p:nvSpPr>
        <p:spPr>
          <a:xfrm rot="5400000">
            <a:off x="5173601" y="4587210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9C9DBA-004F-46EC-7DA9-0245AD0C2DCB}"/>
              </a:ext>
            </a:extLst>
          </p:cNvPr>
          <p:cNvSpPr txBox="1"/>
          <p:nvPr/>
        </p:nvSpPr>
        <p:spPr>
          <a:xfrm rot="5400000">
            <a:off x="6386279" y="4731888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3627F4-35F3-5D82-14E4-E4BDD943371F}"/>
              </a:ext>
            </a:extLst>
          </p:cNvPr>
          <p:cNvSpPr/>
          <p:nvPr/>
        </p:nvSpPr>
        <p:spPr>
          <a:xfrm>
            <a:off x="2848353" y="2990850"/>
            <a:ext cx="7231468" cy="332847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AA9394-5EBF-77D2-E4F3-917545EA55AE}"/>
              </a:ext>
            </a:extLst>
          </p:cNvPr>
          <p:cNvSpPr/>
          <p:nvPr/>
        </p:nvSpPr>
        <p:spPr>
          <a:xfrm>
            <a:off x="6795091" y="1664732"/>
            <a:ext cx="4787346" cy="738307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945047-27F0-21D5-5EB0-284CDDF60058}"/>
              </a:ext>
            </a:extLst>
          </p:cNvPr>
          <p:cNvSpPr txBox="1"/>
          <p:nvPr/>
        </p:nvSpPr>
        <p:spPr>
          <a:xfrm rot="5400000">
            <a:off x="8035632" y="4822413"/>
            <a:ext cx="166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layer network</a:t>
            </a:r>
            <a:endParaRPr kumimoji="1" lang="ko-KR" alt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2EA7-E528-712A-0FA9-1879DD4E8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D573D-CF21-9BCC-0091-002FD167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10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4326BA2A-CA2B-96D9-CE79-D6DF52FDB572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DD0A92A1-DF50-5CFA-B6E5-C6AE600A1471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Radiance Field Scene Representation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0789F6C1-9AB9-2175-3B58-83922FC0E82D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8B3586-6201-38AD-2DA7-1C13CBDFC12E}"/>
                  </a:ext>
                </a:extLst>
              </p:cNvPr>
              <p:cNvSpPr txBox="1"/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NeRF: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ural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adiance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ield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achieve this goal by optimizing MLP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8B3586-6201-38AD-2DA7-1C13CBDFC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blipFill>
                <a:blip r:embed="rId2"/>
                <a:stretch>
                  <a:fillRect l="-1173" t="-2740" b="-95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B7795AA-35BA-484D-99E7-C102FCAA4667}"/>
              </a:ext>
            </a:extLst>
          </p:cNvPr>
          <p:cNvSpPr/>
          <p:nvPr/>
        </p:nvSpPr>
        <p:spPr>
          <a:xfrm>
            <a:off x="3303188" y="3092080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C6B13C3-C3E5-1EF7-B9E8-E3BF269FC272}"/>
              </a:ext>
            </a:extLst>
          </p:cNvPr>
          <p:cNvSpPr/>
          <p:nvPr/>
        </p:nvSpPr>
        <p:spPr>
          <a:xfrm>
            <a:off x="2170146" y="3489757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7809D97-CA63-2C73-DF61-C64304716D14}"/>
              </a:ext>
            </a:extLst>
          </p:cNvPr>
          <p:cNvSpPr/>
          <p:nvPr/>
        </p:nvSpPr>
        <p:spPr>
          <a:xfrm>
            <a:off x="2170146" y="4552451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DEE4970B-C55D-E1EF-99BF-6F9C724C7653}"/>
              </a:ext>
            </a:extLst>
          </p:cNvPr>
          <p:cNvSpPr/>
          <p:nvPr/>
        </p:nvSpPr>
        <p:spPr>
          <a:xfrm>
            <a:off x="8673287" y="3605274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E3712E92-3E44-7032-B24B-108021C76259}"/>
                  </a:ext>
                </a:extLst>
              </p:cNvPr>
              <p:cNvSpPr/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E3712E92-3E44-7032-B24B-108021C76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대각선 방향의 모서리가 잘린 사각형 13">
            <a:extLst>
              <a:ext uri="{FF2B5EF4-FFF2-40B4-BE49-F238E27FC236}">
                <a16:creationId xmlns:a16="http://schemas.microsoft.com/office/drawing/2014/main" id="{1055E728-09A2-6FC5-CCBB-FA84A220310F}"/>
              </a:ext>
            </a:extLst>
          </p:cNvPr>
          <p:cNvSpPr/>
          <p:nvPr/>
        </p:nvSpPr>
        <p:spPr>
          <a:xfrm>
            <a:off x="5860217" y="3618408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2D73005-2332-0DBF-BDAD-EE8DE70F9B4B}"/>
              </a:ext>
            </a:extLst>
          </p:cNvPr>
          <p:cNvSpPr/>
          <p:nvPr/>
        </p:nvSpPr>
        <p:spPr>
          <a:xfrm>
            <a:off x="9903609" y="4741098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9F8710A-C010-F146-113D-A85A2681D9F7}"/>
              </a:ext>
            </a:extLst>
          </p:cNvPr>
          <p:cNvCxnSpPr/>
          <p:nvPr/>
        </p:nvCxnSpPr>
        <p:spPr>
          <a:xfrm>
            <a:off x="2590800" y="366603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BB9214-6811-C7DC-BFB3-07F9271672B0}"/>
              </a:ext>
            </a:extLst>
          </p:cNvPr>
          <p:cNvCxnSpPr>
            <a:cxnSpLocks/>
          </p:cNvCxnSpPr>
          <p:nvPr/>
        </p:nvCxnSpPr>
        <p:spPr>
          <a:xfrm flipV="1">
            <a:off x="4992487" y="3304565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D4F178A-4179-8F6D-0490-D5E6ABFFC591}"/>
              </a:ext>
            </a:extLst>
          </p:cNvPr>
          <p:cNvCxnSpPr>
            <a:cxnSpLocks/>
          </p:cNvCxnSpPr>
          <p:nvPr/>
        </p:nvCxnSpPr>
        <p:spPr>
          <a:xfrm>
            <a:off x="4992487" y="4088801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8CB88D7E-9A95-B647-A8F6-F495F0245325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4210729" y="3040506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849A22F-2B19-E053-DF1E-E29C42506431}"/>
              </a:ext>
            </a:extLst>
          </p:cNvPr>
          <p:cNvCxnSpPr>
            <a:cxnSpLocks/>
          </p:cNvCxnSpPr>
          <p:nvPr/>
        </p:nvCxnSpPr>
        <p:spPr>
          <a:xfrm>
            <a:off x="6410326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대각선 방향의 모서리가 잘린 사각형 29">
            <a:extLst>
              <a:ext uri="{FF2B5EF4-FFF2-40B4-BE49-F238E27FC236}">
                <a16:creationId xmlns:a16="http://schemas.microsoft.com/office/drawing/2014/main" id="{803B1C00-D1F3-3058-4B61-7FD49E77C900}"/>
              </a:ext>
            </a:extLst>
          </p:cNvPr>
          <p:cNvSpPr/>
          <p:nvPr/>
        </p:nvSpPr>
        <p:spPr>
          <a:xfrm>
            <a:off x="7266752" y="3618408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7DDD335-7C7B-10BC-387B-A82D1F0AEDAB}"/>
              </a:ext>
            </a:extLst>
          </p:cNvPr>
          <p:cNvCxnSpPr>
            <a:cxnSpLocks/>
          </p:cNvCxnSpPr>
          <p:nvPr/>
        </p:nvCxnSpPr>
        <p:spPr>
          <a:xfrm>
            <a:off x="7824788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4475FBE-202B-5C29-A8D4-55EA7F4C0F16}"/>
              </a:ext>
            </a:extLst>
          </p:cNvPr>
          <p:cNvCxnSpPr/>
          <p:nvPr/>
        </p:nvCxnSpPr>
        <p:spPr>
          <a:xfrm>
            <a:off x="9191625" y="4917311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5E6D23-EAFA-EB9A-98E9-4F9987186E10}"/>
                  </a:ext>
                </a:extLst>
              </p:cNvPr>
              <p:cNvSpPr txBox="1"/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x: 3d position(x, y, z)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d: direction(3D Cartesian unit vector)</a:t>
                </a:r>
              </a:p>
              <a:p>
                <a14:m>
                  <m:oMath xmlns:m="http://schemas.openxmlformats.org/officeDocument/2006/math">
                    <m:r>
                      <a:rPr kumimoji="1" lang="ko-KR" altLang="en-US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c: color</a:t>
                </a:r>
                <a:endParaRPr kumimoji="1"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C5E6D23-EAFA-EB9A-98E9-4F9987186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blipFill>
                <a:blip r:embed="rId4"/>
                <a:stretch>
                  <a:fillRect l="-1356" t="-2083" r="-339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EDFC956E-A821-C371-B7CB-F7D564EFB70F}"/>
              </a:ext>
            </a:extLst>
          </p:cNvPr>
          <p:cNvSpPr txBox="1"/>
          <p:nvPr/>
        </p:nvSpPr>
        <p:spPr>
          <a:xfrm rot="5400000">
            <a:off x="5173601" y="4587210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002989-A907-CBE4-0A56-2D3D56488F57}"/>
              </a:ext>
            </a:extLst>
          </p:cNvPr>
          <p:cNvSpPr txBox="1"/>
          <p:nvPr/>
        </p:nvSpPr>
        <p:spPr>
          <a:xfrm rot="5400000">
            <a:off x="6386279" y="4731888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B59ED9-6985-4F9C-1FDD-5BDEE7A5B723}"/>
              </a:ext>
            </a:extLst>
          </p:cNvPr>
          <p:cNvSpPr/>
          <p:nvPr/>
        </p:nvSpPr>
        <p:spPr>
          <a:xfrm>
            <a:off x="6439194" y="2705100"/>
            <a:ext cx="4057649" cy="3651250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E9AC29-E6B7-90E1-CE9D-AE6411686453}"/>
              </a:ext>
            </a:extLst>
          </p:cNvPr>
          <p:cNvSpPr/>
          <p:nvPr/>
        </p:nvSpPr>
        <p:spPr>
          <a:xfrm>
            <a:off x="6795091" y="1941415"/>
            <a:ext cx="4787346" cy="461624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A4D50-0537-8767-4123-A297A3593B0A}"/>
              </a:ext>
            </a:extLst>
          </p:cNvPr>
          <p:cNvSpPr txBox="1"/>
          <p:nvPr/>
        </p:nvSpPr>
        <p:spPr>
          <a:xfrm rot="5400000">
            <a:off x="8035632" y="4822413"/>
            <a:ext cx="166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layer network</a:t>
            </a:r>
            <a:endParaRPr kumimoji="1" lang="ko-KR" alt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55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9C26-1AD8-9495-5D8F-779F5F80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D94153-FFA0-FA06-0B46-39695DD49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11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E82CF699-3F4B-484B-2204-720013693511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DA2932D5-5F07-A677-7841-FE6D2EEACB9F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Radiance Field Scene Representation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EFAA9BF7-4238-9039-90CC-E75EFA94D0A3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A5E36-ABDD-A10E-DE6D-7F9196C45515}"/>
                  </a:ext>
                </a:extLst>
              </p:cNvPr>
              <p:cNvSpPr txBox="1"/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NeRF: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ural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adiance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ield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achieve this goal by optimizing MLP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A5E36-ABDD-A10E-DE6D-7F9196C4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blipFill>
                <a:blip r:embed="rId2"/>
                <a:stretch>
                  <a:fillRect l="-1173" t="-2740" b="-95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960E7B4-7CC6-546A-2B80-3873450D59F8}"/>
              </a:ext>
            </a:extLst>
          </p:cNvPr>
          <p:cNvSpPr/>
          <p:nvPr/>
        </p:nvSpPr>
        <p:spPr>
          <a:xfrm>
            <a:off x="3303188" y="3092080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060871A-CC77-894F-0579-BEEE8EDC87DD}"/>
              </a:ext>
            </a:extLst>
          </p:cNvPr>
          <p:cNvSpPr/>
          <p:nvPr/>
        </p:nvSpPr>
        <p:spPr>
          <a:xfrm>
            <a:off x="2170146" y="3489757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5A23837-AC53-7F07-3A64-C4F2DE40622A}"/>
              </a:ext>
            </a:extLst>
          </p:cNvPr>
          <p:cNvSpPr/>
          <p:nvPr/>
        </p:nvSpPr>
        <p:spPr>
          <a:xfrm>
            <a:off x="2170146" y="4552451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552D705-1313-614E-75AD-5BE643ADDC22}"/>
              </a:ext>
            </a:extLst>
          </p:cNvPr>
          <p:cNvSpPr/>
          <p:nvPr/>
        </p:nvSpPr>
        <p:spPr>
          <a:xfrm>
            <a:off x="8673287" y="3605274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37652F8A-DD0A-9752-CE9C-06996FDAB2F8}"/>
                  </a:ext>
                </a:extLst>
              </p:cNvPr>
              <p:cNvSpPr/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37652F8A-DD0A-9752-CE9C-06996FDAB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대각선 방향의 모서리가 잘린 사각형 13">
            <a:extLst>
              <a:ext uri="{FF2B5EF4-FFF2-40B4-BE49-F238E27FC236}">
                <a16:creationId xmlns:a16="http://schemas.microsoft.com/office/drawing/2014/main" id="{86E770F8-284E-3EED-89F9-9ECDF5D2C678}"/>
              </a:ext>
            </a:extLst>
          </p:cNvPr>
          <p:cNvSpPr/>
          <p:nvPr/>
        </p:nvSpPr>
        <p:spPr>
          <a:xfrm>
            <a:off x="5860217" y="3618408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5B69F1-9ECE-AD48-B1EE-FB25CD385F5E}"/>
              </a:ext>
            </a:extLst>
          </p:cNvPr>
          <p:cNvSpPr/>
          <p:nvPr/>
        </p:nvSpPr>
        <p:spPr>
          <a:xfrm>
            <a:off x="9903609" y="4741098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B8F8BF2-25E2-7BE0-3850-DB1A14DFBAF7}"/>
              </a:ext>
            </a:extLst>
          </p:cNvPr>
          <p:cNvCxnSpPr/>
          <p:nvPr/>
        </p:nvCxnSpPr>
        <p:spPr>
          <a:xfrm>
            <a:off x="2590800" y="366603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F71223-96A1-3A93-4985-5541E21E4234}"/>
              </a:ext>
            </a:extLst>
          </p:cNvPr>
          <p:cNvCxnSpPr>
            <a:cxnSpLocks/>
          </p:cNvCxnSpPr>
          <p:nvPr/>
        </p:nvCxnSpPr>
        <p:spPr>
          <a:xfrm flipV="1">
            <a:off x="4992487" y="3304565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6ECD434-570C-3B42-B07B-C59C51EBD3E9}"/>
              </a:ext>
            </a:extLst>
          </p:cNvPr>
          <p:cNvCxnSpPr>
            <a:cxnSpLocks/>
          </p:cNvCxnSpPr>
          <p:nvPr/>
        </p:nvCxnSpPr>
        <p:spPr>
          <a:xfrm>
            <a:off x="4992487" y="4088801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E8FC04E8-3DFC-079A-0FD7-2F926448A317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4210729" y="3040506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3E7B1F5-C90B-17BF-8C61-18EAC6D60855}"/>
              </a:ext>
            </a:extLst>
          </p:cNvPr>
          <p:cNvCxnSpPr>
            <a:cxnSpLocks/>
          </p:cNvCxnSpPr>
          <p:nvPr/>
        </p:nvCxnSpPr>
        <p:spPr>
          <a:xfrm>
            <a:off x="6410326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대각선 방향의 모서리가 잘린 사각형 29">
            <a:extLst>
              <a:ext uri="{FF2B5EF4-FFF2-40B4-BE49-F238E27FC236}">
                <a16:creationId xmlns:a16="http://schemas.microsoft.com/office/drawing/2014/main" id="{182F415F-D106-8078-1CAF-036F3487513B}"/>
              </a:ext>
            </a:extLst>
          </p:cNvPr>
          <p:cNvSpPr/>
          <p:nvPr/>
        </p:nvSpPr>
        <p:spPr>
          <a:xfrm>
            <a:off x="7266752" y="3618408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A5D6ED0-E2A2-D84C-30E3-088C76185DCB}"/>
              </a:ext>
            </a:extLst>
          </p:cNvPr>
          <p:cNvCxnSpPr>
            <a:cxnSpLocks/>
          </p:cNvCxnSpPr>
          <p:nvPr/>
        </p:nvCxnSpPr>
        <p:spPr>
          <a:xfrm>
            <a:off x="7824788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6092053-4F48-044D-B412-A5179AC009D0}"/>
              </a:ext>
            </a:extLst>
          </p:cNvPr>
          <p:cNvCxnSpPr/>
          <p:nvPr/>
        </p:nvCxnSpPr>
        <p:spPr>
          <a:xfrm>
            <a:off x="9191625" y="4917311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4F5818E-E99C-E53D-F5CE-E4E74F0D0E9E}"/>
                  </a:ext>
                </a:extLst>
              </p:cNvPr>
              <p:cNvSpPr txBox="1"/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x: 3d position(x, y, z)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d: direction(3D Cartesian unit vector)</a:t>
                </a:r>
              </a:p>
              <a:p>
                <a14:m>
                  <m:oMath xmlns:m="http://schemas.openxmlformats.org/officeDocument/2006/math">
                    <m:r>
                      <a:rPr kumimoji="1" lang="ko-KR" altLang="en-US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c: color</a:t>
                </a:r>
                <a:endParaRPr kumimoji="1"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4F5818E-E99C-E53D-F5CE-E4E74F0D0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blipFill>
                <a:blip r:embed="rId4"/>
                <a:stretch>
                  <a:fillRect l="-1356" t="-2083" r="-339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BD461575-EC06-B837-DB8B-4DFF8C1393C1}"/>
              </a:ext>
            </a:extLst>
          </p:cNvPr>
          <p:cNvSpPr txBox="1"/>
          <p:nvPr/>
        </p:nvSpPr>
        <p:spPr>
          <a:xfrm rot="5400000">
            <a:off x="5173601" y="4587210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C07132-04BF-4051-72ED-803DDC6FDDFA}"/>
              </a:ext>
            </a:extLst>
          </p:cNvPr>
          <p:cNvSpPr txBox="1"/>
          <p:nvPr/>
        </p:nvSpPr>
        <p:spPr>
          <a:xfrm rot="5400000">
            <a:off x="6386279" y="4731888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BDD5D84-0424-BFFF-025C-73A3E95702A2}"/>
              </a:ext>
            </a:extLst>
          </p:cNvPr>
          <p:cNvSpPr/>
          <p:nvPr/>
        </p:nvSpPr>
        <p:spPr>
          <a:xfrm>
            <a:off x="8254331" y="2667000"/>
            <a:ext cx="2576512" cy="3689349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57B3004-275A-C3AE-A6AD-C757D29D36CD}"/>
              </a:ext>
            </a:extLst>
          </p:cNvPr>
          <p:cNvSpPr/>
          <p:nvPr/>
        </p:nvSpPr>
        <p:spPr>
          <a:xfrm>
            <a:off x="6795091" y="1908212"/>
            <a:ext cx="4787346" cy="494827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D90CDE-0E9C-B4AD-4E8A-F4015073C012}"/>
              </a:ext>
            </a:extLst>
          </p:cNvPr>
          <p:cNvSpPr txBox="1"/>
          <p:nvPr/>
        </p:nvSpPr>
        <p:spPr>
          <a:xfrm rot="5400000">
            <a:off x="8035632" y="4822413"/>
            <a:ext cx="166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layer network</a:t>
            </a:r>
            <a:endParaRPr kumimoji="1" lang="ko-KR" alt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25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CE21-E35E-B468-69AC-C549D136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87AA2C-C24B-17C8-F77F-996D6D41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12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A1163B77-42CA-82F1-94F0-1EFDEF6AD817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19041B8A-7876-6B41-CF49-24198102A2F9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Radiance Field Scene Representation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23DA07BE-6853-B739-3B72-838003585824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DDC2B4-A580-BDE5-8148-25CB02551554}"/>
                  </a:ext>
                </a:extLst>
              </p:cNvPr>
              <p:cNvSpPr txBox="1"/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NeRF: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ural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adiance </a:t>
                </a:r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F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ield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achieve this goal by optimizing MLP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DDC2B4-A580-BDE5-8148-25CB02551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335177"/>
                <a:ext cx="4315925" cy="923330"/>
              </a:xfrm>
              <a:prstGeom prst="rect">
                <a:avLst/>
              </a:prstGeom>
              <a:blipFill>
                <a:blip r:embed="rId2"/>
                <a:stretch>
                  <a:fillRect l="-1173" t="-2740" b="-95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DC84385-BEE2-FBC0-1BD1-93F155462941}"/>
              </a:ext>
            </a:extLst>
          </p:cNvPr>
          <p:cNvSpPr/>
          <p:nvPr/>
        </p:nvSpPr>
        <p:spPr>
          <a:xfrm>
            <a:off x="3303188" y="3092080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E9B3D5C-36E0-7CE2-37FD-11183AB5EC4D}"/>
              </a:ext>
            </a:extLst>
          </p:cNvPr>
          <p:cNvSpPr/>
          <p:nvPr/>
        </p:nvSpPr>
        <p:spPr>
          <a:xfrm>
            <a:off x="2170146" y="3489757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569C229-AA38-D599-E9EC-9DA8596BC43F}"/>
              </a:ext>
            </a:extLst>
          </p:cNvPr>
          <p:cNvSpPr/>
          <p:nvPr/>
        </p:nvSpPr>
        <p:spPr>
          <a:xfrm>
            <a:off x="2170146" y="4552451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44BEE70-C878-4429-F8FE-1EFC7A3A74F9}"/>
              </a:ext>
            </a:extLst>
          </p:cNvPr>
          <p:cNvSpPr/>
          <p:nvPr/>
        </p:nvSpPr>
        <p:spPr>
          <a:xfrm>
            <a:off x="8673287" y="3605274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A9C98BE-C324-BD7F-2125-F7A04DCC7AA2}"/>
                  </a:ext>
                </a:extLst>
              </p:cNvPr>
              <p:cNvSpPr/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4A9C98BE-C324-BD7F-2125-F7A04DCC7A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대각선 방향의 모서리가 잘린 사각형 13">
            <a:extLst>
              <a:ext uri="{FF2B5EF4-FFF2-40B4-BE49-F238E27FC236}">
                <a16:creationId xmlns:a16="http://schemas.microsoft.com/office/drawing/2014/main" id="{9511AA30-16B3-6A00-2151-0D86C4610D84}"/>
              </a:ext>
            </a:extLst>
          </p:cNvPr>
          <p:cNvSpPr/>
          <p:nvPr/>
        </p:nvSpPr>
        <p:spPr>
          <a:xfrm>
            <a:off x="5860217" y="3618408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DD20706-0F46-64F6-6EDE-53AC2F0F3475}"/>
              </a:ext>
            </a:extLst>
          </p:cNvPr>
          <p:cNvSpPr/>
          <p:nvPr/>
        </p:nvSpPr>
        <p:spPr>
          <a:xfrm>
            <a:off x="9903609" y="4741098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734121A-7700-1A53-8AFB-7A4095094162}"/>
              </a:ext>
            </a:extLst>
          </p:cNvPr>
          <p:cNvCxnSpPr/>
          <p:nvPr/>
        </p:nvCxnSpPr>
        <p:spPr>
          <a:xfrm>
            <a:off x="2590800" y="366603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69346B-AD4B-1130-2592-9DA6E7482F41}"/>
              </a:ext>
            </a:extLst>
          </p:cNvPr>
          <p:cNvCxnSpPr>
            <a:cxnSpLocks/>
          </p:cNvCxnSpPr>
          <p:nvPr/>
        </p:nvCxnSpPr>
        <p:spPr>
          <a:xfrm flipV="1">
            <a:off x="4992487" y="3304565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7C73B41-126F-D98D-8CEF-0DD2E4934CCA}"/>
              </a:ext>
            </a:extLst>
          </p:cNvPr>
          <p:cNvCxnSpPr>
            <a:cxnSpLocks/>
          </p:cNvCxnSpPr>
          <p:nvPr/>
        </p:nvCxnSpPr>
        <p:spPr>
          <a:xfrm>
            <a:off x="4992487" y="4088801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A6E67141-E16F-6082-FED4-CD6C2BF49678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4210729" y="3040506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F945337-881F-3C7B-C486-004A2B28BE58}"/>
              </a:ext>
            </a:extLst>
          </p:cNvPr>
          <p:cNvCxnSpPr>
            <a:cxnSpLocks/>
          </p:cNvCxnSpPr>
          <p:nvPr/>
        </p:nvCxnSpPr>
        <p:spPr>
          <a:xfrm>
            <a:off x="6410326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대각선 방향의 모서리가 잘린 사각형 29">
            <a:extLst>
              <a:ext uri="{FF2B5EF4-FFF2-40B4-BE49-F238E27FC236}">
                <a16:creationId xmlns:a16="http://schemas.microsoft.com/office/drawing/2014/main" id="{CDD33379-46DD-7C40-6B46-A67BB693C538}"/>
              </a:ext>
            </a:extLst>
          </p:cNvPr>
          <p:cNvSpPr/>
          <p:nvPr/>
        </p:nvSpPr>
        <p:spPr>
          <a:xfrm>
            <a:off x="7266752" y="3618408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33A2FA9-E356-8CB1-AC4A-7E417ED92BB1}"/>
              </a:ext>
            </a:extLst>
          </p:cNvPr>
          <p:cNvCxnSpPr>
            <a:cxnSpLocks/>
          </p:cNvCxnSpPr>
          <p:nvPr/>
        </p:nvCxnSpPr>
        <p:spPr>
          <a:xfrm>
            <a:off x="7824788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285AA87-8D34-D9FE-FC05-268F35CDF7DC}"/>
              </a:ext>
            </a:extLst>
          </p:cNvPr>
          <p:cNvCxnSpPr/>
          <p:nvPr/>
        </p:nvCxnSpPr>
        <p:spPr>
          <a:xfrm>
            <a:off x="9191625" y="4917311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D424D9-603C-4168-5D54-7D45FBF15C35}"/>
                  </a:ext>
                </a:extLst>
              </p:cNvPr>
              <p:cNvSpPr txBox="1"/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x: 3d position(x, y, z)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d: direction(3D Cartesian unit vector)</a:t>
                </a:r>
              </a:p>
              <a:p>
                <a14:m>
                  <m:oMath xmlns:m="http://schemas.openxmlformats.org/officeDocument/2006/math">
                    <m:r>
                      <a:rPr kumimoji="1" lang="ko-KR" altLang="en-US" b="1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𝝈</m:t>
                    </m:r>
                  </m:oMath>
                </a14:m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r>
                  <a:rPr kumimoji="1" lang="en-US" altLang="ko-KR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c: color</a:t>
                </a:r>
                <a:endParaRPr kumimoji="1" lang="ko-KR" altLang="en-US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D424D9-603C-4168-5D54-7D45FBF15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194" y="1060169"/>
                <a:ext cx="3723968" cy="1200329"/>
              </a:xfrm>
              <a:prstGeom prst="rect">
                <a:avLst/>
              </a:prstGeom>
              <a:blipFill>
                <a:blip r:embed="rId4"/>
                <a:stretch>
                  <a:fillRect l="-1356" t="-2083" r="-339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31D3F39-25C2-915C-4377-03563618FF64}"/>
              </a:ext>
            </a:extLst>
          </p:cNvPr>
          <p:cNvSpPr txBox="1"/>
          <p:nvPr/>
        </p:nvSpPr>
        <p:spPr>
          <a:xfrm rot="5400000">
            <a:off x="5173601" y="4587210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5B0206-3808-9B46-3D7A-E8C5CDE2A607}"/>
              </a:ext>
            </a:extLst>
          </p:cNvPr>
          <p:cNvSpPr txBox="1"/>
          <p:nvPr/>
        </p:nvSpPr>
        <p:spPr>
          <a:xfrm rot="5400000">
            <a:off x="6386279" y="4731888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2308E-A000-A9C5-1451-1B1CCCCB376D}"/>
              </a:ext>
            </a:extLst>
          </p:cNvPr>
          <p:cNvSpPr txBox="1"/>
          <p:nvPr/>
        </p:nvSpPr>
        <p:spPr>
          <a:xfrm rot="5400000">
            <a:off x="8035632" y="4822413"/>
            <a:ext cx="166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layer network</a:t>
            </a:r>
            <a:endParaRPr kumimoji="1" lang="ko-KR" alt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097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2FBE-46BF-58D9-2925-DABDA749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5F2CC4-8F1D-D772-AEF0-9EE86E156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13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A3B3FF4B-4C4B-8576-CA28-809782B4FACB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FDE706AA-62D0-21A4-B396-80ADFD6A411A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Neural Radiance Field Scene Representation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A93CC11B-3078-44DE-0C85-6988C2933B1D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64FB8-E60A-3CAA-2583-E7E9AF305287}"/>
              </a:ext>
            </a:extLst>
          </p:cNvPr>
          <p:cNvSpPr txBox="1"/>
          <p:nvPr/>
        </p:nvSpPr>
        <p:spPr>
          <a:xfrm>
            <a:off x="1023387" y="1335177"/>
            <a:ext cx="8242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Why should we separate x and d as an input?</a:t>
            </a: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To achieve Multiview Consistency!</a:t>
            </a:r>
          </a:p>
          <a:p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Volume density should not be affected by viewing direction</a:t>
            </a:r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(at least for most of the case)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4518C52-4CFE-58F8-9742-675FA0F507AE}"/>
              </a:ext>
            </a:extLst>
          </p:cNvPr>
          <p:cNvSpPr/>
          <p:nvPr/>
        </p:nvSpPr>
        <p:spPr>
          <a:xfrm>
            <a:off x="3303188" y="3092080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E9A9E79-7E10-A9CA-959B-4C45181CFA8F}"/>
              </a:ext>
            </a:extLst>
          </p:cNvPr>
          <p:cNvSpPr/>
          <p:nvPr/>
        </p:nvSpPr>
        <p:spPr>
          <a:xfrm>
            <a:off x="2170146" y="3489757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9EE7D6A-F8A4-4E2B-E264-7D0AE30DEE5E}"/>
              </a:ext>
            </a:extLst>
          </p:cNvPr>
          <p:cNvSpPr/>
          <p:nvPr/>
        </p:nvSpPr>
        <p:spPr>
          <a:xfrm>
            <a:off x="2170146" y="4552451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FA8721D-2F64-9F1C-115D-BAB4BEE26E23}"/>
              </a:ext>
            </a:extLst>
          </p:cNvPr>
          <p:cNvSpPr/>
          <p:nvPr/>
        </p:nvSpPr>
        <p:spPr>
          <a:xfrm>
            <a:off x="8673287" y="3605274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A2610580-E472-D0F5-80B3-CDA40F05B907}"/>
                  </a:ext>
                </a:extLst>
              </p:cNvPr>
              <p:cNvSpPr/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타원 12">
                <a:extLst>
                  <a:ext uri="{FF2B5EF4-FFF2-40B4-BE49-F238E27FC236}">
                    <a16:creationId xmlns:a16="http://schemas.microsoft.com/office/drawing/2014/main" id="{A2610580-E472-D0F5-80B3-CDA40F05B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063512"/>
                <a:ext cx="352425" cy="35242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대각선 방향의 모서리가 잘린 사각형 13">
            <a:extLst>
              <a:ext uri="{FF2B5EF4-FFF2-40B4-BE49-F238E27FC236}">
                <a16:creationId xmlns:a16="http://schemas.microsoft.com/office/drawing/2014/main" id="{1B1715AA-B97C-C2D7-3BAE-A1CE6F81C012}"/>
              </a:ext>
            </a:extLst>
          </p:cNvPr>
          <p:cNvSpPr/>
          <p:nvPr/>
        </p:nvSpPr>
        <p:spPr>
          <a:xfrm>
            <a:off x="5860217" y="3618408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4440246-C1C0-EACA-F09C-652691B573AB}"/>
              </a:ext>
            </a:extLst>
          </p:cNvPr>
          <p:cNvSpPr/>
          <p:nvPr/>
        </p:nvSpPr>
        <p:spPr>
          <a:xfrm>
            <a:off x="9903609" y="4741098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E11F5D7-B706-3333-E706-976CCA4F7D6B}"/>
              </a:ext>
            </a:extLst>
          </p:cNvPr>
          <p:cNvCxnSpPr/>
          <p:nvPr/>
        </p:nvCxnSpPr>
        <p:spPr>
          <a:xfrm>
            <a:off x="2590800" y="366603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FF12C06-5309-8A4C-ED33-71527CCA8AD4}"/>
              </a:ext>
            </a:extLst>
          </p:cNvPr>
          <p:cNvCxnSpPr>
            <a:cxnSpLocks/>
          </p:cNvCxnSpPr>
          <p:nvPr/>
        </p:nvCxnSpPr>
        <p:spPr>
          <a:xfrm flipV="1">
            <a:off x="4992487" y="3304565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077EF3E-E229-00EE-CF65-77C6B2C92BC3}"/>
              </a:ext>
            </a:extLst>
          </p:cNvPr>
          <p:cNvCxnSpPr>
            <a:cxnSpLocks/>
          </p:cNvCxnSpPr>
          <p:nvPr/>
        </p:nvCxnSpPr>
        <p:spPr>
          <a:xfrm>
            <a:off x="4992487" y="4088801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28E58DBF-9A00-CAF8-AD3C-8034E3DCB5C0}"/>
              </a:ext>
            </a:extLst>
          </p:cNvPr>
          <p:cNvCxnSpPr>
            <a:cxnSpLocks/>
            <a:stCxn id="11" idx="4"/>
          </p:cNvCxnSpPr>
          <p:nvPr/>
        </p:nvCxnSpPr>
        <p:spPr>
          <a:xfrm rot="16200000" flipH="1">
            <a:off x="4210729" y="3040506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EC548B0-1AC1-4C60-1948-811442B37B7D}"/>
              </a:ext>
            </a:extLst>
          </p:cNvPr>
          <p:cNvCxnSpPr>
            <a:cxnSpLocks/>
          </p:cNvCxnSpPr>
          <p:nvPr/>
        </p:nvCxnSpPr>
        <p:spPr>
          <a:xfrm>
            <a:off x="6410326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대각선 방향의 모서리가 잘린 사각형 29">
            <a:extLst>
              <a:ext uri="{FF2B5EF4-FFF2-40B4-BE49-F238E27FC236}">
                <a16:creationId xmlns:a16="http://schemas.microsoft.com/office/drawing/2014/main" id="{FFF1B821-157D-49AC-8AD6-C995A3FE79F6}"/>
              </a:ext>
            </a:extLst>
          </p:cNvPr>
          <p:cNvSpPr/>
          <p:nvPr/>
        </p:nvSpPr>
        <p:spPr>
          <a:xfrm>
            <a:off x="7266752" y="3618408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6156131-6F57-D4CE-B36C-A576DC4600BD}"/>
              </a:ext>
            </a:extLst>
          </p:cNvPr>
          <p:cNvCxnSpPr>
            <a:cxnSpLocks/>
          </p:cNvCxnSpPr>
          <p:nvPr/>
        </p:nvCxnSpPr>
        <p:spPr>
          <a:xfrm>
            <a:off x="7824788" y="4728663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AF1A303-648F-F069-8578-51AC717514F3}"/>
              </a:ext>
            </a:extLst>
          </p:cNvPr>
          <p:cNvCxnSpPr/>
          <p:nvPr/>
        </p:nvCxnSpPr>
        <p:spPr>
          <a:xfrm>
            <a:off x="9191625" y="4917311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6F1FA41-94C7-B6F2-A8F8-3633166FF03C}"/>
              </a:ext>
            </a:extLst>
          </p:cNvPr>
          <p:cNvSpPr txBox="1"/>
          <p:nvPr/>
        </p:nvSpPr>
        <p:spPr>
          <a:xfrm rot="5400000">
            <a:off x="5173601" y="4587210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44601F-DFF7-54FE-0FC4-F236B9079E9D}"/>
              </a:ext>
            </a:extLst>
          </p:cNvPr>
          <p:cNvSpPr txBox="1"/>
          <p:nvPr/>
        </p:nvSpPr>
        <p:spPr>
          <a:xfrm rot="5400000">
            <a:off x="6386279" y="4731888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FE87FB-2D0D-7800-81C7-D2C4D50D309F}"/>
              </a:ext>
            </a:extLst>
          </p:cNvPr>
          <p:cNvSpPr txBox="1"/>
          <p:nvPr/>
        </p:nvSpPr>
        <p:spPr>
          <a:xfrm rot="5400000">
            <a:off x="8035632" y="4822413"/>
            <a:ext cx="166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layer network</a:t>
            </a:r>
            <a:endParaRPr kumimoji="1" lang="ko-KR" alt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77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7E21-BA14-AA7A-BC64-10703672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C5C37-9232-C1E1-C1F2-B245AC7D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14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333E46F4-05DF-0EF3-D171-196CDB295B23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A387104A-6C8A-51A1-AC5F-07CB0A591693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Volume Rendering with Radiance Fields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D1EE82AE-19ED-87E9-E956-9CA7EC18AC52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1F0DF-6F14-7F22-4A26-85CB3E109035}"/>
              </a:ext>
            </a:extLst>
          </p:cNvPr>
          <p:cNvSpPr txBox="1"/>
          <p:nvPr/>
        </p:nvSpPr>
        <p:spPr>
          <a:xfrm>
            <a:off x="1023387" y="1335177"/>
            <a:ext cx="45022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Now we have a representation of a 3d object.</a:t>
            </a:r>
          </a:p>
          <a:p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Use it to decide a pixel value for the image.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CF62DA-B9DB-893A-7456-19301FA0665E}"/>
                  </a:ext>
                </a:extLst>
              </p:cNvPr>
              <p:cNvSpPr txBox="1"/>
              <p:nvPr/>
            </p:nvSpPr>
            <p:spPr>
              <a:xfrm>
                <a:off x="1023387" y="2552700"/>
                <a:ext cx="6367449" cy="2618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Transmittance</a:t>
                </a:r>
                <a:r>
                  <a:rPr lang="en-US" altLang="ko-K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ko-KR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투과도</a:t>
                </a:r>
                <a:r>
                  <a:rPr lang="en-US" altLang="ko-K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𝑡𝑑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Ray starting from the position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to the direction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𝑑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Expected color of the ray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Near bound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Far bound</a:t>
                </a:r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CF62DA-B9DB-893A-7456-19301FA06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2552700"/>
                <a:ext cx="6367449" cy="2618730"/>
              </a:xfrm>
              <a:prstGeom prst="rect">
                <a:avLst/>
              </a:prstGeom>
              <a:blipFill>
                <a:blip r:embed="rId2"/>
                <a:stretch>
                  <a:fillRect b="-4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90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7673-14CB-418C-5D87-0476CFB9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1531B-7C21-8743-05C3-029F8810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15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049CAEAE-3CED-E690-4695-59AB76768758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EA012829-BF3A-F314-3C9B-84F5C30CF518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Volume Rendering with Radiance Fields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8BB64EE-F07B-6BDB-F0D4-55BD300FDC04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A295E4-B663-1443-3400-01FA897F7D4A}"/>
                  </a:ext>
                </a:extLst>
              </p:cNvPr>
              <p:cNvSpPr txBox="1"/>
              <p:nvPr/>
            </p:nvSpPr>
            <p:spPr>
              <a:xfrm>
                <a:off x="1023387" y="1091479"/>
                <a:ext cx="6367449" cy="2618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Transmittance</a:t>
                </a:r>
                <a:r>
                  <a:rPr lang="en-US" altLang="ko-K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ko-KR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투과도</a:t>
                </a:r>
                <a:r>
                  <a:rPr lang="en-US" altLang="ko-K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𝑡𝑑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Ray starting from the position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to the direction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𝑑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Expected color of the ray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Near bound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Far bound</a:t>
                </a:r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A295E4-B663-1443-3400-01FA897F7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091479"/>
                <a:ext cx="6367449" cy="2618730"/>
              </a:xfrm>
              <a:prstGeom prst="rect">
                <a:avLst/>
              </a:prstGeom>
              <a:blipFill>
                <a:blip r:embed="rId2"/>
                <a:stretch>
                  <a:fillRect b="-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D63019-2272-68A8-B3D3-0DFDC9537212}"/>
                  </a:ext>
                </a:extLst>
              </p:cNvPr>
              <p:cNvSpPr txBox="1"/>
              <p:nvPr/>
            </p:nvSpPr>
            <p:spPr>
              <a:xfrm>
                <a:off x="2326500" y="4027275"/>
                <a:ext cx="3761222" cy="745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1D63019-2272-68A8-B3D3-0DFDC9537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500" y="4027275"/>
                <a:ext cx="3761222" cy="745717"/>
              </a:xfrm>
              <a:prstGeom prst="rect">
                <a:avLst/>
              </a:prstGeom>
              <a:blipFill>
                <a:blip r:embed="rId3"/>
                <a:stretch>
                  <a:fillRect l="-2694" t="-147458" b="-218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B6FF29-93B5-F520-D4C2-F4957E7A2EDD}"/>
                  </a:ext>
                </a:extLst>
              </p:cNvPr>
              <p:cNvSpPr txBox="1"/>
              <p:nvPr/>
            </p:nvSpPr>
            <p:spPr>
              <a:xfrm>
                <a:off x="7000875" y="4153976"/>
                <a:ext cx="2346476" cy="49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  <m:sup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</m:t>
                              </m:r>
                            </m:e>
                          </m:nary>
                        </m:sup>
                      </m:s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B6FF29-93B5-F520-D4C2-F4957E7A2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75" y="4153976"/>
                <a:ext cx="2346476" cy="492314"/>
              </a:xfrm>
              <a:prstGeom prst="rect">
                <a:avLst/>
              </a:prstGeom>
              <a:blipFill>
                <a:blip r:embed="rId4"/>
                <a:stretch>
                  <a:fillRect t="-60000" b="-8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454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3C32-556D-B1E5-D756-840FC4E9B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5FCA17-E660-0799-6F4B-EE4F2019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16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C889359A-F246-838A-556A-8B2D7E249543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A1BF110B-9BA2-66A9-7790-47A0DBD3E518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Volume Rendering with Radiance Fields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45B3AC4-8C9A-4A99-C377-E6DBF2A1B312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154469-1996-517D-92A6-484360AD608F}"/>
                  </a:ext>
                </a:extLst>
              </p:cNvPr>
              <p:cNvSpPr txBox="1"/>
              <p:nvPr/>
            </p:nvSpPr>
            <p:spPr>
              <a:xfrm>
                <a:off x="1023387" y="1091479"/>
                <a:ext cx="6367449" cy="2618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Volume density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Transmittance</a:t>
                </a:r>
                <a:r>
                  <a:rPr lang="en-US" altLang="ko-K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ko-KR" alt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투과도</a:t>
                </a:r>
                <a:r>
                  <a:rPr lang="en-US" altLang="ko-KR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𝑡𝑑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Ray starting from the position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𝑜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to the direction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𝑑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Expected color of the ray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Near bound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Far bound</a:t>
                </a:r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154469-1996-517D-92A6-484360AD6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091479"/>
                <a:ext cx="6367449" cy="2618730"/>
              </a:xfrm>
              <a:prstGeom prst="rect">
                <a:avLst/>
              </a:prstGeom>
              <a:blipFill>
                <a:blip r:embed="rId2"/>
                <a:stretch>
                  <a:fillRect b="-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DF77E0-AAF0-A979-3C12-11485D64F071}"/>
                  </a:ext>
                </a:extLst>
              </p:cNvPr>
              <p:cNvSpPr txBox="1"/>
              <p:nvPr/>
            </p:nvSpPr>
            <p:spPr>
              <a:xfrm>
                <a:off x="2326500" y="4027275"/>
                <a:ext cx="3761222" cy="745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DF77E0-AAF0-A979-3C12-11485D64F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500" y="4027275"/>
                <a:ext cx="3761222" cy="745717"/>
              </a:xfrm>
              <a:prstGeom prst="rect">
                <a:avLst/>
              </a:prstGeom>
              <a:blipFill>
                <a:blip r:embed="rId3"/>
                <a:stretch>
                  <a:fillRect l="-2694" t="-147458" b="-218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253A39-1729-C90C-C6FE-3E6D7BB00C1C}"/>
                  </a:ext>
                </a:extLst>
              </p:cNvPr>
              <p:cNvSpPr txBox="1"/>
              <p:nvPr/>
            </p:nvSpPr>
            <p:spPr>
              <a:xfrm>
                <a:off x="7000875" y="4153976"/>
                <a:ext cx="2346476" cy="4923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  <m:sup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𝑑𝑠</m:t>
                              </m:r>
                            </m:e>
                          </m:nary>
                        </m:sup>
                      </m:sSup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253A39-1729-C90C-C6FE-3E6D7BB00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75" y="4153976"/>
                <a:ext cx="2346476" cy="492314"/>
              </a:xfrm>
              <a:prstGeom prst="rect">
                <a:avLst/>
              </a:prstGeom>
              <a:blipFill>
                <a:blip r:embed="rId4"/>
                <a:stretch>
                  <a:fillRect t="-60000" b="-8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B6E02DE-D3C1-ECC4-D2A1-F06FAA65A116}"/>
              </a:ext>
            </a:extLst>
          </p:cNvPr>
          <p:cNvSpPr txBox="1"/>
          <p:nvPr/>
        </p:nvSpPr>
        <p:spPr>
          <a:xfrm>
            <a:off x="1023387" y="5090058"/>
            <a:ext cx="560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…But practically, we can’t compute in a continuous region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163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FF07-0D20-37F9-49CA-70EBA70D6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2EFBF-A03A-2C30-2B84-5EDC2002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17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4152D0D4-2FDA-840C-073F-1DAE9959D4E7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14699847-9921-A099-25F2-44337A7DF50C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Volume Rendering with Radiance Fields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AB79E07B-72BB-B842-3FF7-9CF98C094D0F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A2E659-ED43-8AC7-E374-BB6E71C3F5DC}"/>
                  </a:ext>
                </a:extLst>
              </p:cNvPr>
              <p:cNvSpPr txBox="1"/>
              <p:nvPr/>
            </p:nvSpPr>
            <p:spPr>
              <a:xfrm>
                <a:off x="1023387" y="1432458"/>
                <a:ext cx="4831964" cy="20630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Sample from the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𝑁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partitioned region,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[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]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AutoNum type="arabicPeriod"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Calculate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A2E659-ED43-8AC7-E374-BB6E71C3F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432458"/>
                <a:ext cx="4831964" cy="2063001"/>
              </a:xfrm>
              <a:prstGeom prst="rect">
                <a:avLst/>
              </a:prstGeom>
              <a:blipFill>
                <a:blip r:embed="rId3"/>
                <a:stretch>
                  <a:fillRect l="-1047" t="-1220" b="-36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17C1D963-74E6-04FD-7B03-C6E454567183}"/>
              </a:ext>
            </a:extLst>
          </p:cNvPr>
          <p:cNvCxnSpPr/>
          <p:nvPr/>
        </p:nvCxnSpPr>
        <p:spPr>
          <a:xfrm>
            <a:off x="2521601" y="2257425"/>
            <a:ext cx="6772275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9C3C7F68-B3B0-6846-9E99-1AE1297AA7F7}"/>
              </a:ext>
            </a:extLst>
          </p:cNvPr>
          <p:cNvCxnSpPr>
            <a:cxnSpLocks/>
          </p:cNvCxnSpPr>
          <p:nvPr/>
        </p:nvCxnSpPr>
        <p:spPr>
          <a:xfrm>
            <a:off x="2521601" y="2035333"/>
            <a:ext cx="0" cy="42862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AE41B7AC-33A2-6601-2929-9AC8D156AAD7}"/>
              </a:ext>
            </a:extLst>
          </p:cNvPr>
          <p:cNvCxnSpPr>
            <a:cxnSpLocks/>
          </p:cNvCxnSpPr>
          <p:nvPr/>
        </p:nvCxnSpPr>
        <p:spPr>
          <a:xfrm>
            <a:off x="9291352" y="2035333"/>
            <a:ext cx="0" cy="42862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B46ADE-BC82-BCC7-EE91-6841B78AEAAF}"/>
                  </a:ext>
                </a:extLst>
              </p:cNvPr>
              <p:cNvSpPr txBox="1"/>
              <p:nvPr/>
            </p:nvSpPr>
            <p:spPr>
              <a:xfrm>
                <a:off x="2283683" y="2425710"/>
                <a:ext cx="475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B46ADE-BC82-BCC7-EE91-6841B78AE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683" y="2425710"/>
                <a:ext cx="4758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834BFC-E03D-FC80-94DF-17EAB4707EB8}"/>
                  </a:ext>
                </a:extLst>
              </p:cNvPr>
              <p:cNvSpPr txBox="1"/>
              <p:nvPr/>
            </p:nvSpPr>
            <p:spPr>
              <a:xfrm>
                <a:off x="9063597" y="2463958"/>
                <a:ext cx="455509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834BFC-E03D-FC80-94DF-17EAB4707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3597" y="2463958"/>
                <a:ext cx="455509" cy="39158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7E7C67A6-9628-3C15-06E9-B0DC68F137C4}"/>
              </a:ext>
            </a:extLst>
          </p:cNvPr>
          <p:cNvCxnSpPr>
            <a:cxnSpLocks/>
          </p:cNvCxnSpPr>
          <p:nvPr/>
        </p:nvCxnSpPr>
        <p:spPr>
          <a:xfrm>
            <a:off x="2893076" y="2114402"/>
            <a:ext cx="0" cy="31130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45521F35-A472-4AD7-1978-4174B8A70545}"/>
              </a:ext>
            </a:extLst>
          </p:cNvPr>
          <p:cNvCxnSpPr>
            <a:cxnSpLocks/>
          </p:cNvCxnSpPr>
          <p:nvPr/>
        </p:nvCxnSpPr>
        <p:spPr>
          <a:xfrm>
            <a:off x="3274076" y="2114402"/>
            <a:ext cx="0" cy="31130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56C2DFF5-73A4-E9DB-1F1C-87D04EAA244D}"/>
              </a:ext>
            </a:extLst>
          </p:cNvPr>
          <p:cNvCxnSpPr>
            <a:cxnSpLocks/>
          </p:cNvCxnSpPr>
          <p:nvPr/>
        </p:nvCxnSpPr>
        <p:spPr>
          <a:xfrm>
            <a:off x="3636026" y="2114402"/>
            <a:ext cx="0" cy="31130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4DEA3D66-D4C7-4A61-FCA7-99EBD63E0C03}"/>
              </a:ext>
            </a:extLst>
          </p:cNvPr>
          <p:cNvCxnSpPr>
            <a:cxnSpLocks/>
          </p:cNvCxnSpPr>
          <p:nvPr/>
        </p:nvCxnSpPr>
        <p:spPr>
          <a:xfrm>
            <a:off x="8960501" y="2114402"/>
            <a:ext cx="0" cy="31130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7C55D14E-4D62-1DD2-159E-DFA48D671FC2}"/>
              </a:ext>
            </a:extLst>
          </p:cNvPr>
          <p:cNvCxnSpPr>
            <a:cxnSpLocks/>
          </p:cNvCxnSpPr>
          <p:nvPr/>
        </p:nvCxnSpPr>
        <p:spPr>
          <a:xfrm>
            <a:off x="8610600" y="2114402"/>
            <a:ext cx="0" cy="31130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1B7ECFA5-1B15-02E1-6B1D-8DD1DE53F968}"/>
              </a:ext>
            </a:extLst>
          </p:cNvPr>
          <p:cNvCxnSpPr>
            <a:cxnSpLocks/>
          </p:cNvCxnSpPr>
          <p:nvPr/>
        </p:nvCxnSpPr>
        <p:spPr>
          <a:xfrm>
            <a:off x="8257099" y="2114402"/>
            <a:ext cx="0" cy="311308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호 23">
            <a:extLst>
              <a:ext uri="{FF2B5EF4-FFF2-40B4-BE49-F238E27FC236}">
                <a16:creationId xmlns:a16="http://schemas.microsoft.com/office/drawing/2014/main" id="{33052D6E-0A63-DBE2-4FF4-25920842BB47}"/>
              </a:ext>
            </a:extLst>
          </p:cNvPr>
          <p:cNvSpPr/>
          <p:nvPr/>
        </p:nvSpPr>
        <p:spPr>
          <a:xfrm rot="18888294">
            <a:off x="3169369" y="2007914"/>
            <a:ext cx="540000" cy="540000"/>
          </a:xfrm>
          <a:prstGeom prst="arc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2EEF57-D376-3E26-7295-0034A86C1F35}"/>
                  </a:ext>
                </a:extLst>
              </p:cNvPr>
              <p:cNvSpPr txBox="1"/>
              <p:nvPr/>
            </p:nvSpPr>
            <p:spPr>
              <a:xfrm>
                <a:off x="3274076" y="1748616"/>
                <a:ext cx="36997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sz="12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2EEF57-D376-3E26-7295-0034A86C1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076" y="1748616"/>
                <a:ext cx="36997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6A159B2-B463-1B9A-1112-E8C0F0427738}"/>
              </a:ext>
            </a:extLst>
          </p:cNvPr>
          <p:cNvSpPr txBox="1"/>
          <p:nvPr/>
        </p:nvSpPr>
        <p:spPr>
          <a:xfrm>
            <a:off x="5681587" y="1850667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047C75-C771-9AC2-40E2-AE930CCB6B06}"/>
                  </a:ext>
                </a:extLst>
              </p:cNvPr>
              <p:cNvSpPr txBox="1"/>
              <p:nvPr/>
            </p:nvSpPr>
            <p:spPr>
              <a:xfrm>
                <a:off x="2027454" y="4940371"/>
                <a:ext cx="3761222" cy="745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3047C75-C771-9AC2-40E2-AE930CCB6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54" y="4940371"/>
                <a:ext cx="3761222" cy="745717"/>
              </a:xfrm>
              <a:prstGeom prst="rect">
                <a:avLst/>
              </a:prstGeom>
              <a:blipFill>
                <a:blip r:embed="rId7"/>
                <a:stretch>
                  <a:fillRect l="-2349" t="-143333" b="-2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8F9CD5-5ADA-B77F-95FD-437D631C0531}"/>
                  </a:ext>
                </a:extLst>
              </p:cNvPr>
              <p:cNvSpPr txBox="1"/>
              <p:nvPr/>
            </p:nvSpPr>
            <p:spPr>
              <a:xfrm>
                <a:off x="2094129" y="3497763"/>
                <a:ext cx="3424527" cy="871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d>
                        <m:d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kumimoji="1" lang="en-US" altLang="ko-KR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ko-KR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8F9CD5-5ADA-B77F-95FD-437D631C0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129" y="3497763"/>
                <a:ext cx="3424527" cy="871264"/>
              </a:xfrm>
              <a:prstGeom prst="rect">
                <a:avLst/>
              </a:prstGeom>
              <a:blipFill>
                <a:blip r:embed="rId8"/>
                <a:stretch>
                  <a:fillRect t="-94286" b="-14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0F4A0BB-5D6D-B2C6-0778-FA908C706328}"/>
                  </a:ext>
                </a:extLst>
              </p:cNvPr>
              <p:cNvSpPr txBox="1"/>
              <p:nvPr/>
            </p:nvSpPr>
            <p:spPr>
              <a:xfrm>
                <a:off x="6768504" y="5093830"/>
                <a:ext cx="2961580" cy="4991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⁡(−</m:t>
                    </m:r>
                    <m:nary>
                      <m:nary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  <m:sup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𝑑𝑠</m:t>
                        </m:r>
                      </m:e>
                    </m:nary>
                  </m:oMath>
                </a14:m>
                <a:r>
                  <a:rPr kumimoji="1" lang="en-US" altLang="ko-KR" dirty="0"/>
                  <a:t>)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0F4A0BB-5D6D-B2C6-0778-FA908C706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504" y="5093830"/>
                <a:ext cx="2961580" cy="499111"/>
              </a:xfrm>
              <a:prstGeom prst="rect">
                <a:avLst/>
              </a:prstGeom>
              <a:blipFill>
                <a:blip r:embed="rId9"/>
                <a:stretch>
                  <a:fillRect t="-92500" r="-426" b="-14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C06257-9E7E-78F2-C94D-EE0DD61A826A}"/>
                  </a:ext>
                </a:extLst>
              </p:cNvPr>
              <p:cNvSpPr txBox="1"/>
              <p:nvPr/>
            </p:nvSpPr>
            <p:spPr>
              <a:xfrm>
                <a:off x="7288613" y="3477308"/>
                <a:ext cx="2237216" cy="912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⁡(−</m:t>
                      </m:r>
                      <m:nary>
                        <m:naryPr>
                          <m:chr m:val="∑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C06257-9E7E-78F2-C94D-EE0DD61A8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613" y="3477308"/>
                <a:ext cx="2237216" cy="912173"/>
              </a:xfrm>
              <a:prstGeom prst="rect">
                <a:avLst/>
              </a:prstGeom>
              <a:blipFill>
                <a:blip r:embed="rId10"/>
                <a:stretch>
                  <a:fillRect t="-89041" b="-1383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E97428-08A7-FD78-ADF3-7114C0FE00F6}"/>
                  </a:ext>
                </a:extLst>
              </p:cNvPr>
              <p:cNvSpPr txBox="1"/>
              <p:nvPr/>
            </p:nvSpPr>
            <p:spPr>
              <a:xfrm>
                <a:off x="10172700" y="3748728"/>
                <a:ext cx="17720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DE97428-08A7-FD78-ADF3-7114C0FE0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2700" y="3748728"/>
                <a:ext cx="1772024" cy="369332"/>
              </a:xfrm>
              <a:prstGeom prst="rect">
                <a:avLst/>
              </a:prstGeom>
              <a:blipFill>
                <a:blip r:embed="rId11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직선 연결선[R] 32">
            <a:extLst>
              <a:ext uri="{FF2B5EF4-FFF2-40B4-BE49-F238E27FC236}">
                <a16:creationId xmlns:a16="http://schemas.microsoft.com/office/drawing/2014/main" id="{FACC8A4A-DDAB-A115-B44B-DFB807E5CEF2}"/>
              </a:ext>
            </a:extLst>
          </p:cNvPr>
          <p:cNvCxnSpPr/>
          <p:nvPr/>
        </p:nvCxnSpPr>
        <p:spPr>
          <a:xfrm>
            <a:off x="3752850" y="5524500"/>
            <a:ext cx="75247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455F109C-254E-A00B-77FD-4E2CAD1241B9}"/>
              </a:ext>
            </a:extLst>
          </p:cNvPr>
          <p:cNvCxnSpPr>
            <a:cxnSpLocks/>
          </p:cNvCxnSpPr>
          <p:nvPr/>
        </p:nvCxnSpPr>
        <p:spPr>
          <a:xfrm>
            <a:off x="3543300" y="4118060"/>
            <a:ext cx="169545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2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12894-BB26-BFBE-1888-16DD4EE5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E507AD-9B04-B82F-F270-EC92AB0C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18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A4F62D8D-F4E2-19E0-17F7-267AC4DF5AD9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3855C64D-CE23-765F-C2F6-E1F19AD87C91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Optimizing a Neural Radiance Field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42D5D965-C001-1E1F-99D6-6B2A31221459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EEA799D-817E-B42B-161A-58025E225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11345"/>
            <a:ext cx="7772400" cy="267330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C572A9E-E7E4-43B2-9032-2F530FFCDC92}"/>
              </a:ext>
            </a:extLst>
          </p:cNvPr>
          <p:cNvSpPr/>
          <p:nvPr/>
        </p:nvSpPr>
        <p:spPr>
          <a:xfrm>
            <a:off x="2209801" y="2076450"/>
            <a:ext cx="7772400" cy="2559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81AD7B-EA7A-D79B-48C1-E5E5E500FD73}"/>
              </a:ext>
            </a:extLst>
          </p:cNvPr>
          <p:cNvSpPr/>
          <p:nvPr/>
        </p:nvSpPr>
        <p:spPr>
          <a:xfrm>
            <a:off x="2209801" y="4067175"/>
            <a:ext cx="7772400" cy="25591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6601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8756-CCA6-C908-A0A4-8A36B010C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409BB3-7A0E-3713-FB30-F3A797B3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19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E9F6C30D-ABD7-8470-B2B0-C5D5CD597FB6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82754E14-0BCA-8189-CA4F-8BA21DEF88B5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Optimizing a Neural Radiance Field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223F7BF1-D273-B9A2-1705-51F9A8C93683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0BAA9-D858-58B9-C6C0-E9189A36461A}"/>
              </a:ext>
            </a:extLst>
          </p:cNvPr>
          <p:cNvSpPr txBox="1"/>
          <p:nvPr/>
        </p:nvSpPr>
        <p:spPr>
          <a:xfrm>
            <a:off x="1023387" y="1432458"/>
            <a:ext cx="5450531" cy="1295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There are two problems;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1. MLP is weak at representing high-frequency functions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2. Sampling process is too naive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24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304A-37E4-F1F7-0BC9-4601A257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18ACE8-AD63-10EB-329D-EFF55221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20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615F253B-B436-D5D6-A72C-88A0210DDD1C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238059C1-43A3-AA43-9DC4-B352EC74F363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Optimizing a Neural Radiance Field – Positional Encoding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571CE242-8C41-C947-364D-510F5514A70E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1747C-708F-9BFD-4278-B317825A27B2}"/>
              </a:ext>
            </a:extLst>
          </p:cNvPr>
          <p:cNvSpPr txBox="1"/>
          <p:nvPr/>
        </p:nvSpPr>
        <p:spPr>
          <a:xfrm>
            <a:off x="1023387" y="1091479"/>
            <a:ext cx="6625532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Positional encoding allows MLP to represent high-frequency changes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1C480F-7006-712D-0675-1BB4172FFBAE}"/>
                  </a:ext>
                </a:extLst>
              </p:cNvPr>
              <p:cNvSpPr txBox="1"/>
              <p:nvPr/>
            </p:nvSpPr>
            <p:spPr>
              <a:xfrm>
                <a:off x="963292" y="1991629"/>
                <a:ext cx="924265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=(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,…, 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 Positional encoding function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This map low-dimensional input(p) into high-dimensional(2L-dim) output.</a:t>
                </a: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For each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,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𝑑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first map into 2L-dim using this mapping function, then use as input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51C480F-7006-712D-0675-1BB4172FF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92" y="1991629"/>
                <a:ext cx="9242658" cy="1200329"/>
              </a:xfrm>
              <a:prstGeom prst="rect">
                <a:avLst/>
              </a:prstGeom>
              <a:blipFill>
                <a:blip r:embed="rId2"/>
                <a:stretch>
                  <a:fillRect l="-412" t="-2083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16FC5737-39AA-EB4D-182D-2BCBE2AF45BE}"/>
              </a:ext>
            </a:extLst>
          </p:cNvPr>
          <p:cNvSpPr/>
          <p:nvPr/>
        </p:nvSpPr>
        <p:spPr>
          <a:xfrm>
            <a:off x="3303188" y="3369842"/>
            <a:ext cx="1600200" cy="2085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8 fully- connected layers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FBB280F-84F0-F8D5-9C2E-3502C3B27FA3}"/>
              </a:ext>
            </a:extLst>
          </p:cNvPr>
          <p:cNvSpPr/>
          <p:nvPr/>
        </p:nvSpPr>
        <p:spPr>
          <a:xfrm>
            <a:off x="2170146" y="3767519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7787CA5-ADBA-9808-8848-2479D8C352CC}"/>
              </a:ext>
            </a:extLst>
          </p:cNvPr>
          <p:cNvSpPr/>
          <p:nvPr/>
        </p:nvSpPr>
        <p:spPr>
          <a:xfrm>
            <a:off x="2170146" y="4830213"/>
            <a:ext cx="352425" cy="35242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d</a:t>
            </a:r>
            <a:endParaRPr kumimoji="1" lang="ko-KR" altLang="en-US" dirty="0"/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258345E-E417-D8FF-3BC5-87B3DEB5295C}"/>
              </a:ext>
            </a:extLst>
          </p:cNvPr>
          <p:cNvSpPr/>
          <p:nvPr/>
        </p:nvSpPr>
        <p:spPr>
          <a:xfrm>
            <a:off x="8673287" y="3883036"/>
            <a:ext cx="400050" cy="26240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2DCD1E8F-82DE-FC4D-5A6F-D7214031B886}"/>
                  </a:ext>
                </a:extLst>
              </p:cNvPr>
              <p:cNvSpPr/>
              <p:nvPr/>
            </p:nvSpPr>
            <p:spPr>
              <a:xfrm>
                <a:off x="5929312" y="3341274"/>
                <a:ext cx="352425" cy="352425"/>
              </a:xfrm>
              <a:prstGeom prst="ellips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2DCD1E8F-82DE-FC4D-5A6F-D7214031B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312" y="3341274"/>
                <a:ext cx="352425" cy="3524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대각선 방향의 모서리가 잘린 사각형 30">
            <a:extLst>
              <a:ext uri="{FF2B5EF4-FFF2-40B4-BE49-F238E27FC236}">
                <a16:creationId xmlns:a16="http://schemas.microsoft.com/office/drawing/2014/main" id="{28AB3406-5C63-FDAA-C4C1-D0C1B21ED787}"/>
              </a:ext>
            </a:extLst>
          </p:cNvPr>
          <p:cNvSpPr/>
          <p:nvPr/>
        </p:nvSpPr>
        <p:spPr>
          <a:xfrm>
            <a:off x="5860217" y="3896170"/>
            <a:ext cx="476249" cy="219074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C9C6E11-5492-A5FF-32E5-90175029E4C8}"/>
              </a:ext>
            </a:extLst>
          </p:cNvPr>
          <p:cNvSpPr/>
          <p:nvPr/>
        </p:nvSpPr>
        <p:spPr>
          <a:xfrm>
            <a:off x="9903609" y="5018860"/>
            <a:ext cx="352425" cy="352425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40F602D-C968-9E00-2D45-B19301C81067}"/>
              </a:ext>
            </a:extLst>
          </p:cNvPr>
          <p:cNvCxnSpPr/>
          <p:nvPr/>
        </p:nvCxnSpPr>
        <p:spPr>
          <a:xfrm>
            <a:off x="2590800" y="3943795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03A26BB-C2A2-5A3F-2902-A83BA608E87D}"/>
              </a:ext>
            </a:extLst>
          </p:cNvPr>
          <p:cNvCxnSpPr>
            <a:cxnSpLocks/>
          </p:cNvCxnSpPr>
          <p:nvPr/>
        </p:nvCxnSpPr>
        <p:spPr>
          <a:xfrm flipV="1">
            <a:off x="4992487" y="3582327"/>
            <a:ext cx="847725" cy="370383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24BFAAC3-8CBE-0E4E-7EE7-BDCB46D85735}"/>
              </a:ext>
            </a:extLst>
          </p:cNvPr>
          <p:cNvCxnSpPr>
            <a:cxnSpLocks/>
          </p:cNvCxnSpPr>
          <p:nvPr/>
        </p:nvCxnSpPr>
        <p:spPr>
          <a:xfrm>
            <a:off x="4992487" y="4366563"/>
            <a:ext cx="770138" cy="530824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[E] 35">
            <a:extLst>
              <a:ext uri="{FF2B5EF4-FFF2-40B4-BE49-F238E27FC236}">
                <a16:creationId xmlns:a16="http://schemas.microsoft.com/office/drawing/2014/main" id="{C930617A-C6BD-23EA-5ABB-6D6A68177689}"/>
              </a:ext>
            </a:extLst>
          </p:cNvPr>
          <p:cNvCxnSpPr>
            <a:cxnSpLocks/>
            <a:stCxn id="28" idx="4"/>
          </p:cNvCxnSpPr>
          <p:nvPr/>
        </p:nvCxnSpPr>
        <p:spPr>
          <a:xfrm rot="16200000" flipH="1">
            <a:off x="4210729" y="3318268"/>
            <a:ext cx="1106752" cy="483549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D4722B8-23CF-68FB-43D9-97992382B53B}"/>
              </a:ext>
            </a:extLst>
          </p:cNvPr>
          <p:cNvCxnSpPr>
            <a:cxnSpLocks/>
          </p:cNvCxnSpPr>
          <p:nvPr/>
        </p:nvCxnSpPr>
        <p:spPr>
          <a:xfrm>
            <a:off x="6410326" y="5006425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대각선 방향의 모서리가 잘린 사각형 37">
            <a:extLst>
              <a:ext uri="{FF2B5EF4-FFF2-40B4-BE49-F238E27FC236}">
                <a16:creationId xmlns:a16="http://schemas.microsoft.com/office/drawing/2014/main" id="{655E7924-98F1-B343-63DA-E5F580C5C0C6}"/>
              </a:ext>
            </a:extLst>
          </p:cNvPr>
          <p:cNvSpPr/>
          <p:nvPr/>
        </p:nvSpPr>
        <p:spPr>
          <a:xfrm>
            <a:off x="7266752" y="3896170"/>
            <a:ext cx="476249" cy="2534739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DB817D9-3443-4933-1FE4-E3245B934828}"/>
              </a:ext>
            </a:extLst>
          </p:cNvPr>
          <p:cNvCxnSpPr>
            <a:cxnSpLocks/>
          </p:cNvCxnSpPr>
          <p:nvPr/>
        </p:nvCxnSpPr>
        <p:spPr>
          <a:xfrm>
            <a:off x="7824788" y="5006425"/>
            <a:ext cx="771524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D00A041-511C-7D14-0D32-B07A36C620DB}"/>
              </a:ext>
            </a:extLst>
          </p:cNvPr>
          <p:cNvCxnSpPr/>
          <p:nvPr/>
        </p:nvCxnSpPr>
        <p:spPr>
          <a:xfrm>
            <a:off x="9191625" y="5195073"/>
            <a:ext cx="590550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67714DC-EB6B-5869-8564-37C060062BFE}"/>
              </a:ext>
            </a:extLst>
          </p:cNvPr>
          <p:cNvSpPr txBox="1"/>
          <p:nvPr/>
        </p:nvSpPr>
        <p:spPr>
          <a:xfrm rot="5400000">
            <a:off x="5173601" y="4864972"/>
            <a:ext cx="1863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256-dim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3D4554-5560-18A8-2956-D09962565839}"/>
              </a:ext>
            </a:extLst>
          </p:cNvPr>
          <p:cNvSpPr txBox="1"/>
          <p:nvPr/>
        </p:nvSpPr>
        <p:spPr>
          <a:xfrm rot="5400000">
            <a:off x="6386279" y="5009650"/>
            <a:ext cx="2249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Calibri" panose="020F0502020204030204" pitchFamily="34" charset="0"/>
                <a:cs typeface="Calibri" panose="020F0502020204030204" pitchFamily="34" charset="0"/>
              </a:rPr>
              <a:t>concatenated feature vector</a:t>
            </a:r>
            <a:endParaRPr kumimoji="1" lang="ko-KR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F5221E-1AC5-96E7-7041-8AE610127B23}"/>
              </a:ext>
            </a:extLst>
          </p:cNvPr>
          <p:cNvSpPr txBox="1"/>
          <p:nvPr/>
        </p:nvSpPr>
        <p:spPr>
          <a:xfrm rot="5400000">
            <a:off x="8035632" y="5100175"/>
            <a:ext cx="1665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layer network</a:t>
            </a:r>
            <a:endParaRPr kumimoji="1" lang="ko-KR" alt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모서리가 둥근 직사각형 43">
                <a:extLst>
                  <a:ext uri="{FF2B5EF4-FFF2-40B4-BE49-F238E27FC236}">
                    <a16:creationId xmlns:a16="http://schemas.microsoft.com/office/drawing/2014/main" id="{1925DE58-4FE7-548E-DAAD-5A8C6E79BBA8}"/>
                  </a:ext>
                </a:extLst>
              </p:cNvPr>
              <p:cNvSpPr/>
              <p:nvPr/>
            </p:nvSpPr>
            <p:spPr>
              <a:xfrm>
                <a:off x="2709458" y="3341274"/>
                <a:ext cx="257175" cy="3380201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4" name="모서리가 둥근 직사각형 43">
                <a:extLst>
                  <a:ext uri="{FF2B5EF4-FFF2-40B4-BE49-F238E27FC236}">
                    <a16:creationId xmlns:a16="http://schemas.microsoft.com/office/drawing/2014/main" id="{1925DE58-4FE7-548E-DAAD-5A8C6E79B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458" y="3341274"/>
                <a:ext cx="257175" cy="3380201"/>
              </a:xfrm>
              <a:prstGeom prst="roundRect">
                <a:avLst/>
              </a:prstGeom>
              <a:blipFill>
                <a:blip r:embed="rId4"/>
                <a:stretch>
                  <a:fillRect l="-43478" r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07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8" grpId="0" animBg="1"/>
      <p:bldP spid="41" grpId="0"/>
      <p:bldP spid="42" grpId="0"/>
      <p:bldP spid="43" grpId="0"/>
      <p:bldP spid="4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C0DD-42B7-EA7F-4E37-273921C8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62E172-F6EF-24D8-CEAB-07B146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21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FDD00C23-3538-EE4A-CE69-50651B3C449E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615EBF16-1C41-BFE8-EFE5-62A5CDC5CFF9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Optimizing a Neural Radiance Field – Positional Encoding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0969E04E-9BE3-D7E8-F627-C7B3DAEA2140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1C0C2-93FC-56D0-A175-2F842ED4D4EF}"/>
              </a:ext>
            </a:extLst>
          </p:cNvPr>
          <p:cNvSpPr txBox="1"/>
          <p:nvPr/>
        </p:nvSpPr>
        <p:spPr>
          <a:xfrm>
            <a:off x="1023387" y="1091479"/>
            <a:ext cx="6625532" cy="464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Positional encoding allows MLP to represent high-frequency changes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0E859F-0AF5-E651-E155-BB280BFE0F15}"/>
                  </a:ext>
                </a:extLst>
              </p:cNvPr>
              <p:cNvSpPr txBox="1"/>
              <p:nvPr/>
            </p:nvSpPr>
            <p:spPr>
              <a:xfrm>
                <a:off x="963292" y="1991629"/>
                <a:ext cx="924265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=(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,…, 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ko-K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</m:func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 Positional encoding function</a:t>
                </a:r>
              </a:p>
              <a:p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  <a:sym typeface="Wingdings" pitchFamily="2" charset="2"/>
                </a:endParaRP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This map low-dimensional input(p) into high-dimensional(2L-dim) output.</a:t>
                </a:r>
              </a:p>
              <a:p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  <a:sym typeface="Wingdings" pitchFamily="2" charset="2"/>
                  </a:rPr>
                  <a:t>For each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,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  <a:sym typeface="Wingdings" pitchFamily="2" charset="2"/>
                      </a:rPr>
                      <m:t>𝑑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first map into 2L-dim using this mapping function, then use as input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l-GR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Θ</m:t>
                        </m:r>
                      </m:sub>
                    </m:sSub>
                  </m:oMath>
                </a14:m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B0E859F-0AF5-E651-E155-BB280BFE0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292" y="1991629"/>
                <a:ext cx="9242658" cy="1200329"/>
              </a:xfrm>
              <a:prstGeom prst="rect">
                <a:avLst/>
              </a:prstGeom>
              <a:blipFill>
                <a:blip r:embed="rId2"/>
                <a:stretch>
                  <a:fillRect l="-412" t="-2083" b="-72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9C233844-3B06-6ACF-4C0F-FEDD29EF5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310436"/>
            <a:ext cx="7772400" cy="311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03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6BBA-D0B7-3DB6-5890-F075A875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02FA0-6076-2EE6-CF03-0C7899F5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22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D72AC7A3-9DA9-34AE-262B-C0674E938896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22DEBEC4-9B51-5087-57CB-8AF6DAE2B16D}"/>
              </a:ext>
            </a:extLst>
          </p:cNvPr>
          <p:cNvSpPr txBox="1"/>
          <p:nvPr/>
        </p:nvSpPr>
        <p:spPr>
          <a:xfrm>
            <a:off x="179250" y="350889"/>
            <a:ext cx="884092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Optimizing a Neural Radiance Field – Hierarchical Volume Sampling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5A29F4A7-10DF-4A9F-B0DB-AACDC2417A69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8E51C0-5D71-2277-9FC2-3200972696CF}"/>
              </a:ext>
            </a:extLst>
          </p:cNvPr>
          <p:cNvSpPr txBox="1"/>
          <p:nvPr/>
        </p:nvSpPr>
        <p:spPr>
          <a:xfrm>
            <a:off x="1023387" y="1091479"/>
            <a:ext cx="10247485" cy="7418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Idea: free space and occluded regions that do not contribute to the rendered image should be sampled less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How?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Use two distinct MLP networks to represent a 3d object!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35E527-D6D9-BB07-83C4-5E1DF37EFE49}"/>
                  </a:ext>
                </a:extLst>
              </p:cNvPr>
              <p:cNvSpPr txBox="1"/>
              <p:nvPr/>
            </p:nvSpPr>
            <p:spPr>
              <a:xfrm>
                <a:off x="1023387" y="2139229"/>
                <a:ext cx="8798114" cy="32821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200000"/>
                  </a:lnSpc>
                  <a:buNone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 Use </a:t>
                </a:r>
                <a:r>
                  <a:rPr kumimoji="1" lang="en-US" altLang="ko-KR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coarse network </a:t>
                </a: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produce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samples along the ray 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 Calculate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𝑁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kumimoji="1" lang="en-US" altLang="ko-KR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ko-KR" b="0" i="0" smtClean="0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d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But here,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200000"/>
                  </a:lnSpc>
                  <a:buNone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f>
                      <m:f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kumimoji="1" lang="en-US" altLang="ko-KR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can be used as a PDF value. 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samples from this PDF</a:t>
                </a:r>
              </a:p>
              <a:p>
                <a:pPr>
                  <a:lnSpc>
                    <a:spcPct val="200000"/>
                  </a:lnSpc>
                  <a:buNone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 Finally, calculate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</m:sub>
                        </m:sSub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using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samples.</a:t>
                </a:r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35E527-D6D9-BB07-83C4-5E1DF37EF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2139229"/>
                <a:ext cx="8798114" cy="3282181"/>
              </a:xfrm>
              <a:prstGeom prst="rect">
                <a:avLst/>
              </a:prstGeom>
              <a:blipFill>
                <a:blip r:embed="rId2"/>
                <a:stretch>
                  <a:fillRect l="-576" b="-19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742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16C8-D4D7-1C38-0AFF-D721C088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C5065-6A0C-6BF4-D0DB-19BF372C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23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8CEF4F32-2A96-55EE-93AB-CE11BF149E19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A08D56F6-0B5C-349E-D159-4787551CA38B}"/>
              </a:ext>
            </a:extLst>
          </p:cNvPr>
          <p:cNvSpPr txBox="1"/>
          <p:nvPr/>
        </p:nvSpPr>
        <p:spPr>
          <a:xfrm>
            <a:off x="179250" y="350889"/>
            <a:ext cx="884092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Optimizing a Neural Radiance Field – Hierarchical Volume Sampling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D44C09F8-A7E8-755A-52BD-BDFDF5FF8EED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9D1548-43AC-FDFF-D0DA-6EDDBDDE3ED3}"/>
              </a:ext>
            </a:extLst>
          </p:cNvPr>
          <p:cNvSpPr txBox="1"/>
          <p:nvPr/>
        </p:nvSpPr>
        <p:spPr>
          <a:xfrm>
            <a:off x="1023387" y="109147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Loss function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352D14F-B267-FB6B-6C63-8CD6D2F7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0" y="2349500"/>
            <a:ext cx="5969000" cy="901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F6D162-C46E-498C-756B-4E474738C4DF}"/>
                  </a:ext>
                </a:extLst>
              </p:cNvPr>
              <p:cNvSpPr txBox="1"/>
              <p:nvPr/>
            </p:nvSpPr>
            <p:spPr>
              <a:xfrm>
                <a:off x="1752600" y="4076700"/>
                <a:ext cx="274908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Set of rays in each batch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Ground truth</a:t>
                </a:r>
                <a:endParaRPr kumimoji="1" lang="ko-KR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F6D162-C46E-498C-756B-4E474738C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076700"/>
                <a:ext cx="2749086" cy="646331"/>
              </a:xfrm>
              <a:prstGeom prst="rect">
                <a:avLst/>
              </a:prstGeom>
              <a:blipFill>
                <a:blip r:embed="rId3"/>
                <a:stretch>
                  <a:fillRect t="-5882" r="-922" b="-156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560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EABC-FFB4-D875-19AC-922173A85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BEE2DE-8801-3222-4A3F-D73B50F55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24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CEDACF00-31FC-60F2-FB04-F95C86DCAD02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3D0FCC17-B477-9F01-C9F5-351ED7E71996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CF09365C-78F5-AE87-FC0B-F08315678B7F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372ACD6-0E2E-7C37-401C-9D118905F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689027"/>
              </p:ext>
            </p:extLst>
          </p:nvPr>
        </p:nvGraphicFramePr>
        <p:xfrm>
          <a:off x="1427152" y="1972628"/>
          <a:ext cx="93376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424">
                  <a:extLst>
                    <a:ext uri="{9D8B030D-6E8A-4147-A177-3AD203B41FA5}">
                      <a16:colId xmlns:a16="http://schemas.microsoft.com/office/drawing/2014/main" val="3165021915"/>
                    </a:ext>
                  </a:extLst>
                </a:gridCol>
                <a:gridCol w="2334424">
                  <a:extLst>
                    <a:ext uri="{9D8B030D-6E8A-4147-A177-3AD203B41FA5}">
                      <a16:colId xmlns:a16="http://schemas.microsoft.com/office/drawing/2014/main" val="1498908642"/>
                    </a:ext>
                  </a:extLst>
                </a:gridCol>
                <a:gridCol w="2334424">
                  <a:extLst>
                    <a:ext uri="{9D8B030D-6E8A-4147-A177-3AD203B41FA5}">
                      <a16:colId xmlns:a16="http://schemas.microsoft.com/office/drawing/2014/main" val="3982829555"/>
                    </a:ext>
                  </a:extLst>
                </a:gridCol>
                <a:gridCol w="2334424">
                  <a:extLst>
                    <a:ext uri="{9D8B030D-6E8A-4147-A177-3AD203B41FA5}">
                      <a16:colId xmlns:a16="http://schemas.microsoft.com/office/drawing/2014/main" val="1932422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Datasets</a:t>
                      </a:r>
                      <a:endParaRPr lang="ko-KR" altLang="en-US" sz="1800" b="1" kern="1200" dirty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Diﬀuse Synthetic 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Realistic Synthetic 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Real Forward-Facing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932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 images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479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17~55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851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 images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200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3~7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784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Resolution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512 x 512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800 x 800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1008 x 756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78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/object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/object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/object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838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284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0163-0900-DBA4-F332-3B5E8314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9032A6-36AB-0E58-82A5-47E29803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25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1ED09E1E-F303-9304-8B93-A2CC22F868C5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98A97894-2EC9-D8A3-580B-39AC663D7DC3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682D96A9-7F8F-C1C1-8C29-97C81C3999A3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3DC9B0-9C4C-1186-8FAC-37FE1B473CBA}"/>
                  </a:ext>
                </a:extLst>
              </p:cNvPr>
              <p:cNvSpPr txBox="1"/>
              <p:nvPr/>
            </p:nvSpPr>
            <p:spPr>
              <a:xfrm>
                <a:off x="1023387" y="1091479"/>
                <a:ext cx="4684552" cy="2575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Details;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# of rays: 4096 / image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=64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𝑁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𝑓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=128</m:t>
                    </m:r>
                  </m:oMath>
                </a14:m>
                <a:endParaRPr kumimoji="1" lang="en-US" altLang="ko-KR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Needed 100,000 ~ 300,000 iterations / scene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This take 1~2 days on single V100 GPU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kumimoji="1" lang="en-US" altLang="ko-KR" dirty="0">
                    <a:latin typeface="Calibri" panose="020F0502020204030204" pitchFamily="34" charset="0"/>
                    <a:cs typeface="Calibri" panose="020F0502020204030204" pitchFamily="34" charset="0"/>
                  </a:rPr>
                  <a:t>Model parameter requires about 5MB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3DC9B0-9C4C-1186-8FAC-37FE1B47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87" y="1091479"/>
                <a:ext cx="4684552" cy="2575770"/>
              </a:xfrm>
              <a:prstGeom prst="rect">
                <a:avLst/>
              </a:prstGeom>
              <a:blipFill>
                <a:blip r:embed="rId2"/>
                <a:stretch>
                  <a:fillRect l="-1081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839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37454-3893-922C-E798-F9D8EC29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02366-C1EE-D56C-A5EE-96A1CC837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26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501C1541-3D51-31F5-20FC-B650AC3CFB88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69753FDD-AB3A-EB4A-A930-44E42E1B7997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 - Comparisons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1E29F4F7-7CB2-6AB9-5EAE-0398411A85D5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395FDA-CA65-48FE-5B41-7B9F2FC03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38" y="2009775"/>
            <a:ext cx="10259324" cy="19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73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90D7A-7818-A613-DA17-0D1C5E3A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EBE948-6E52-1E41-7B6F-61D305B4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27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7D754309-2DA2-57E1-B3DC-6CF95FF5FC08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9469D018-052B-20DE-D9A0-7001D88F7DB2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 - Comparisons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833F1AFE-1C87-1AD5-350D-1038634A5F4F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441A4B8-303B-AC1D-1F51-F39F79699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75" y="1053222"/>
            <a:ext cx="5280250" cy="580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67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353D-4CDA-EF94-6DEB-1469554B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0DB83-28D5-9C2B-E165-9B617CA7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28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00001150-7879-8DE4-4729-A60A9F42BD26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482A31D2-B543-FE55-49B1-8D0A7C0582DC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 - Comparisons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589FB65F-9555-07F2-7CA0-483EE7D76568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D07E77-214D-C46A-3D10-988CFF721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094"/>
          <a:stretch/>
        </p:blipFill>
        <p:spPr>
          <a:xfrm>
            <a:off x="775152" y="1514476"/>
            <a:ext cx="10641696" cy="40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97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09090-A9F0-FF4E-2D24-857C9BF2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4211F-D972-2C3D-098E-9369FFD0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29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96CC1FA7-45ED-8B93-6C8D-CAE0FCFE9404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22466D9B-94E8-9EE1-1D0E-F3D8B30D7620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 - Comparisons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A2A6C7BE-9E00-7BFB-6B83-845DD5D2C484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E84E76-061C-061A-06EB-21275CD1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094"/>
          <a:stretch/>
        </p:blipFill>
        <p:spPr>
          <a:xfrm>
            <a:off x="775152" y="1514476"/>
            <a:ext cx="10641696" cy="408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46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4BA86-FF05-F6EF-BC78-217B109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D7A99E-229A-A58B-D49D-0A789946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30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4C0D1D6E-AAC1-2438-4830-24A160DEB1CE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0267AD40-82BF-26F6-6D62-714DA3E48532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Results – Ablation studies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BFF9584E-7421-EF45-C376-00C7641E447A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3999090-CAA4-54B5-5941-93AEADA3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9356"/>
            <a:ext cx="7772400" cy="32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55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3A78-AAA2-6E4E-B239-674C95C14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6950DB-6017-9DA7-C3BB-342B848C1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46F0-557D-4D40-AEE7-109BA6B299F9}" type="slidenum">
              <a:rPr kumimoji="1" lang="ko-KR" altLang="en-US" smtClean="0"/>
              <a:t>31</a:t>
            </a:fld>
            <a:endParaRPr kumimoji="1" lang="ko-KR" altLang="en-US" dirty="0"/>
          </a:p>
        </p:txBody>
      </p:sp>
      <p:cxnSp>
        <p:nvCxnSpPr>
          <p:cNvPr id="5" name="Google Shape;107;p3">
            <a:extLst>
              <a:ext uri="{FF2B5EF4-FFF2-40B4-BE49-F238E27FC236}">
                <a16:creationId xmlns:a16="http://schemas.microsoft.com/office/drawing/2014/main" id="{4C7B3ADC-BEA3-BFF2-28EA-6C6F3F44C436}"/>
              </a:ext>
            </a:extLst>
          </p:cNvPr>
          <p:cNvCxnSpPr/>
          <p:nvPr/>
        </p:nvCxnSpPr>
        <p:spPr>
          <a:xfrm>
            <a:off x="179250" y="102984"/>
            <a:ext cx="0" cy="661720"/>
          </a:xfrm>
          <a:prstGeom prst="straightConnector1">
            <a:avLst/>
          </a:prstGeom>
          <a:noFill/>
          <a:ln w="38100" cap="flat" cmpd="sng">
            <a:solidFill>
              <a:srgbClr val="38302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Google Shape;109;p3">
            <a:extLst>
              <a:ext uri="{FF2B5EF4-FFF2-40B4-BE49-F238E27FC236}">
                <a16:creationId xmlns:a16="http://schemas.microsoft.com/office/drawing/2014/main" id="{6E162127-76B2-2404-7AC4-1224DEC6C2B2}"/>
              </a:ext>
            </a:extLst>
          </p:cNvPr>
          <p:cNvSpPr txBox="1"/>
          <p:nvPr/>
        </p:nvSpPr>
        <p:spPr>
          <a:xfrm>
            <a:off x="179250" y="350889"/>
            <a:ext cx="807784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altLang="ko-KR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7" name="Google Shape;114;p3">
            <a:extLst>
              <a:ext uri="{FF2B5EF4-FFF2-40B4-BE49-F238E27FC236}">
                <a16:creationId xmlns:a16="http://schemas.microsoft.com/office/drawing/2014/main" id="{6C55C0B7-FB5D-AB7F-6D4E-05CBACC5A4C8}"/>
              </a:ext>
            </a:extLst>
          </p:cNvPr>
          <p:cNvSpPr txBox="1"/>
          <p:nvPr/>
        </p:nvSpPr>
        <p:spPr>
          <a:xfrm>
            <a:off x="191343" y="71923"/>
            <a:ext cx="709727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6CA5B-234A-FBB5-4D37-3AF3E87775EE}"/>
              </a:ext>
            </a:extLst>
          </p:cNvPr>
          <p:cNvSpPr txBox="1"/>
          <p:nvPr/>
        </p:nvSpPr>
        <p:spPr>
          <a:xfrm>
            <a:off x="1133475" y="1752600"/>
            <a:ext cx="5987537" cy="8803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Time-space trade-off</a:t>
            </a:r>
            <a:r>
              <a:rPr kumimoji="1"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(1~2 days &amp; 5MB vs 10-min &amp; 15GB)</a:t>
            </a:r>
            <a:r>
              <a:rPr kumimoji="1"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Interpretability (Quite low compared to voxel)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15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5213</TotalTime>
  <Words>1326</Words>
  <Application>Microsoft Macintosh PowerPoint</Application>
  <PresentationFormat>와이드스크린</PresentationFormat>
  <Paragraphs>300</Paragraphs>
  <Slides>31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이성재(컴퓨터공학과)</dc:creator>
  <cp:lastModifiedBy>이성재(컴퓨터공학과)</cp:lastModifiedBy>
  <cp:revision>8</cp:revision>
  <dcterms:created xsi:type="dcterms:W3CDTF">2025-08-01T14:20:36Z</dcterms:created>
  <dcterms:modified xsi:type="dcterms:W3CDTF">2026-08-21T10:50:24Z</dcterms:modified>
</cp:coreProperties>
</file>